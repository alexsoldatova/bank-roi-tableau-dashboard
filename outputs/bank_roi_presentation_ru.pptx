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charts/chart1.xml" ContentType="application/vnd.openxmlformats-officedocument.drawingml.chart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slides/charts/chart2.xml" ContentType="application/vnd.openxmlformats-officedocument.drawingml.chart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3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04874bdf0404b5f" /><Relationship Type="http://schemas.openxmlformats.org/officeDocument/2006/relationships/extended-properties" Target="/docProps/app.xml" Id="Rcf97c6ce4a9340f3" /><Relationship Type="http://schemas.openxmlformats.org/officeDocument/2006/relationships/officeDocument" Target="/ppt/presentation.xml" Id="R9b032ba459134c1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a76a565157d43ad"/>
  </p:sldMasterIdLst>
  <p:notesMasterIdLst>
    <p:notesMasterId xmlns:r="http://schemas.openxmlformats.org/officeDocument/2006/relationships" r:id="R269195c192074164"/>
  </p:notesMasterIdLst>
  <p:sldIdLst>
    <p:sldId xmlns:r="http://schemas.openxmlformats.org/officeDocument/2006/relationships" id="256" r:id="Rf6eadf1edf6d4eb2"/>
    <p:sldId xmlns:r="http://schemas.openxmlformats.org/officeDocument/2006/relationships" id="257" r:id="R3a02902de46a4f26"/>
    <p:sldId xmlns:r="http://schemas.openxmlformats.org/officeDocument/2006/relationships" id="258" r:id="Rc73b82c01c4f4eb9"/>
    <p:sldId xmlns:r="http://schemas.openxmlformats.org/officeDocument/2006/relationships" id="259" r:id="Rd78a8d3f55504b2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de2470f56f64e27" /><Relationship Type="http://schemas.openxmlformats.org/officeDocument/2006/relationships/slideMaster" Target="/ppt/slideMasters/slideMaster1.xml" Id="Rba76a565157d43ad" /><Relationship Type="http://schemas.openxmlformats.org/officeDocument/2006/relationships/notesMaster" Target="/ppt/notesMasters/notesMaster1.xml" Id="R269195c192074164" /><Relationship Type="http://schemas.openxmlformats.org/officeDocument/2006/relationships/presProps" Target="/ppt/presProps.xml" Id="R652dfec79849445c" /><Relationship Type="http://schemas.openxmlformats.org/officeDocument/2006/relationships/tableStyles" Target="/ppt/tableStyles.xml" Id="Rafd9ec5cb5324c11" /><Relationship Type="http://schemas.openxmlformats.org/officeDocument/2006/relationships/slide" Target="/ppt/slides/slide1.xml" Id="Rf6eadf1edf6d4eb2" /><Relationship Type="http://schemas.openxmlformats.org/officeDocument/2006/relationships/slide" Target="/ppt/slides/slide2.xml" Id="R3a02902de46a4f26" /><Relationship Type="http://schemas.openxmlformats.org/officeDocument/2006/relationships/slide" Target="/ppt/slides/slide3.xml" Id="Rc73b82c01c4f4eb9" /><Relationship Type="http://schemas.openxmlformats.org/officeDocument/2006/relationships/slide" Target="/ppt/slides/slide4.xml" Id="Rd78a8d3f55504b2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babbbe3dd4e4d6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2a66ae494294faf" /><Relationship Type="http://schemas.openxmlformats.org/officeDocument/2006/relationships/notesMaster" Target="/ppt/notesMasters/notesMaster1.xml" Id="Rbeddaf105f2e450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6d3fe58f20f743e9" /><Relationship Type="http://schemas.openxmlformats.org/officeDocument/2006/relationships/notesMaster" Target="/ppt/notesMasters/notesMaster1.xml" Id="Rdbf34b9781f84be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d4c6f3505e6478b" /><Relationship Type="http://schemas.openxmlformats.org/officeDocument/2006/relationships/notesMaster" Target="/ppt/notesMasters/notesMaster1.xml" Id="Rbb8f632d94f64bc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f79afdb8778493d" /><Relationship Type="http://schemas.openxmlformats.org/officeDocument/2006/relationships/notesMaster" Target="/ppt/notesMasters/notesMaster1.xml" Id="Rcc6a0d70c0f64b7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/Users/alexandra/Documents/Codex/2026-08-09/yt/data/processed/tableau_model_summary.csv</a:t>
            </a:r>
          </a:p>
          <a:p xmlns:a="http://schemas.openxmlformats.org/drawingml/2006/main">
            <a:r>
              <a:t>- /Users/alexandra/Documents/Codex/2026-08-09/yt/data/processed/tableau_break_even_scenarios.csv</a:t>
            </a:r>
          </a:p>
          <a:p xmlns:a="http://schemas.openxmlformats.org/drawingml/2006/main">
            <a:r>
              <a:t>- https://github.com/alexsoldatova/bank-roi-tableau-dashboard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/Users/alexandra/Documents/Codex/2026-08-09/yt/data/processed/tableau_model_summary.csv</a:t>
            </a:r>
          </a:p>
          <a:p xmlns:a="http://schemas.openxmlformats.org/drawingml/2006/main">
            <a:r>
              <a:t>- /Users/alexandra/Documents/Codex/2026-08-09/yt/data/processed/tableau_monthly_activity.csv</a:t>
            </a:r>
          </a:p>
          <a:p xmlns:a="http://schemas.openxmlformats.org/drawingml/2006/main">
            <a:r>
              <a:t>- https://github.com/alexsoldatova/bank-roi-tableau-dashboard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/Users/alexandra/Documents/Codex/2026-08-09/yt/README.md</a:t>
            </a:r>
          </a:p>
          <a:p xmlns:a="http://schemas.openxmlformats.org/drawingml/2006/main">
            <a:r>
              <a:t>- https://github.com/alexsoldatova/bank-roi-tableau-dashboard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/Users/alexandra/Documents/Codex/2026-08-09/yt/README.md</a:t>
            </a:r>
          </a:p>
          <a:p xmlns:a="http://schemas.openxmlformats.org/drawingml/2006/main">
            <a:r>
              <a:t>- https://github.com/alexsoldatova/bank-roi-tableau-dashboard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a0cbe6c9a1f4ca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b6a33bc88bb4954" /><Relationship Type="http://schemas.openxmlformats.org/officeDocument/2006/relationships/slideLayout" Target="/ppt/slideLayouts/slideLayout1.xml" Id="R2e189ba4365f4e7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e189ba4365f4e7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634cc503cb4cad" /><Relationship Type="http://schemas.openxmlformats.org/officeDocument/2006/relationships/chart" Target="/ppt/slides/charts/chart1.xml" Id="R0bd109b349c94a9f" /><Relationship Type="http://schemas.openxmlformats.org/officeDocument/2006/relationships/notesSlide" Target="/ppt/notesSlides/notesSlide1.xml" Id="Rf60b5b095dce439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df8637feeb4599" /><Relationship Type="http://schemas.openxmlformats.org/officeDocument/2006/relationships/chart" Target="/ppt/slides/charts/chart2.xml" Id="R2761a1a36f0c4d28" /><Relationship Type="http://schemas.openxmlformats.org/officeDocument/2006/relationships/notesSlide" Target="/ppt/notesSlides/notesSlide2.xml" Id="Rc2e4b7cf7b5244f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b6ffe2aeca491f" /><Relationship Type="http://schemas.openxmlformats.org/officeDocument/2006/relationships/chart" Target="/ppt/slides/charts/chart3.xml" Id="R25f33aafa10649c6" /><Relationship Type="http://schemas.openxmlformats.org/officeDocument/2006/relationships/notesSlide" Target="/ppt/notesSlides/notesSlide3.xml" Id="R0fa1a1e2907e427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82b82a52f4641c6" /><Relationship Type="http://schemas.openxmlformats.org/officeDocument/2006/relationships/chart" Target="/ppt/slides/charts/chart4.xml" Id="R2603cd441a8f4679" /><Relationship Type="http://schemas.openxmlformats.org/officeDocument/2006/relationships/notesSlide" Target="/ppt/notesSlides/notesSlide4.xml" Id="R4d0c17494ef9443c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Сервис только в активные месяцы</c:v>
          </c:tx>
          <c:spPr>
            <a:ln xmlns:a="http://schemas.openxmlformats.org/drawingml/2006/main" w="38100">
              <a:solidFill>
                <a:srgbClr val="3D8DFF"/>
              </a:solidFill>
              <a:prstDash val="solid"/>
            </a:ln>
          </c:spPr>
          <c:marker>
            <c:symbol val="circle"/>
            <c:size val="7"/>
            <c:spPr>
              <a:solidFill xmlns:a="http://schemas.openxmlformats.org/drawingml/2006/main">
                <a:srgbClr val="3D8DFF"/>
              </a:solidFill>
            </c:spPr>
          </c:marker>
          <c:cat>
            <c:numLit>
              <c:formatCode>General</c:formatCode>
              <c:ptCount val="7"/>
              <c:pt idx="0">
                <c:v>0</c:v>
              </c:pt>
              <c:pt idx="1">
                <c:v>25</c:v>
              </c:pt>
              <c:pt idx="2">
                <c:v>50</c:v>
              </c:pt>
              <c:pt idx="3">
                <c:v>75</c:v>
              </c:pt>
              <c:pt idx="4">
                <c:v>100</c:v>
              </c:pt>
              <c:pt idx="5">
                <c:v>125</c:v>
              </c:pt>
              <c:pt idx="6">
                <c:v>150</c:v>
              </c:pt>
            </c:numLit>
          </c:cat>
          <c:val>
            <c:numLit>
              <c:formatCode>0.0</c:formatCode>
              <c:ptCount val="7"/>
              <c:pt idx="0">
                <c:v>2.367102727235553</c:v>
              </c:pt>
              <c:pt idx="1">
                <c:v>5.436728863583699</c:v>
              </c:pt>
              <c:pt idx="2">
                <c:v>8.50635499993185</c:v>
              </c:pt>
              <c:pt idx="3">
                <c:v>11.57598113628</c:v>
              </c:pt>
              <c:pt idx="4">
                <c:v>14.645607272628146</c:v>
              </c:pt>
              <c:pt idx="5">
                <c:v>17.715233408976292</c:v>
              </c:pt>
              <c:pt idx="6">
                <c:v>20.784859545324437</c:v>
              </c:pt>
            </c:numLit>
          </c:val>
        </c:ser>
        <c:ser>
          <c:idx val="1"/>
          <c:order val="1"/>
          <c:tx>
            <c:v>Сервис во все открытые месяцы</c:v>
          </c:tx>
          <c:spPr>
            <a:ln xmlns:a="http://schemas.openxmlformats.org/drawingml/2006/main" w="28575">
              <a:solidFill>
                <a:srgbClr val="6DCBF4"/>
              </a:solidFill>
              <a:prstDash val="solid"/>
            </a:ln>
          </c:spPr>
          <c:marker>
            <c:symbol val="circle"/>
            <c:size val="6"/>
            <c:spPr>
              <a:solidFill xmlns:a="http://schemas.openxmlformats.org/drawingml/2006/main">
                <a:srgbClr val="6DCBF4"/>
              </a:solidFill>
            </c:spPr>
          </c:marker>
          <c:cat>
            <c:numLit>
              <c:formatCode>General</c:formatCode>
              <c:ptCount val="7"/>
              <c:pt idx="0">
                <c:v>0</c:v>
              </c:pt>
              <c:pt idx="1">
                <c:v>25</c:v>
              </c:pt>
              <c:pt idx="2">
                <c:v>50</c:v>
              </c:pt>
              <c:pt idx="3">
                <c:v>75</c:v>
              </c:pt>
              <c:pt idx="4">
                <c:v>100</c:v>
              </c:pt>
              <c:pt idx="5">
                <c:v>125</c:v>
              </c:pt>
              <c:pt idx="6">
                <c:v>150</c:v>
              </c:pt>
            </c:numLit>
          </c:cat>
          <c:val>
            <c:numLit>
              <c:formatCode>0.0</c:formatCode>
              <c:ptCount val="7"/>
              <c:pt idx="0">
                <c:v>-1.6405733704628092</c:v>
              </c:pt>
              <c:pt idx="1">
                <c:v>1.4290527658853371</c:v>
              </c:pt>
              <c:pt idx="2">
                <c:v>4.498678902233487</c:v>
              </c:pt>
              <c:pt idx="3">
                <c:v>7.568305038581637</c:v>
              </c:pt>
              <c:pt idx="4">
                <c:v>10.637931174929783</c:v>
              </c:pt>
              <c:pt idx="5">
                <c:v>13.707557311277931</c:v>
              </c:pt>
              <c:pt idx="6">
                <c:v>16.777183447626076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 sz="975">
                    <a:solidFill>
                      <a:srgbClr val="333333"/>
                    </a:solidFill>
                  </a:rPr>
                  <a:t>Средний остаток, тыс. ₽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>
                  <a:solidFill>
                    <a:srgbClr val="333333"/>
                  </a:solidFill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333333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25"/>
          <c:min val="-5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333333"/>
                </a:solidFill>
              </a:defRPr>
            </a:pPr>
          </a:p>
        </c:txPr>
        <c:crossAx val="48650112"/>
        <c:crossBetween val="between"/>
        <c:majorUnit val="5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333333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Открытые счета</c:v>
          </c:tx>
          <c:spPr>
            <a:solidFill xmlns:a="http://schemas.openxmlformats.org/drawingml/2006/main">
              <a:srgbClr val="D0EDFA"/>
            </a:solidFill>
          </c:spPr>
          <c:cat>
            <c:strLit>
              <c:ptCount val="8"/>
              <c:pt idx="0">
                <c:v>янв 24</c:v>
              </c:pt>
              <c:pt idx="1">
                <c:v>май 24</c:v>
              </c:pt>
              <c:pt idx="2">
                <c:v>сен 24</c:v>
              </c:pt>
              <c:pt idx="3">
                <c:v>янв 25</c:v>
              </c:pt>
              <c:pt idx="4">
                <c:v>май 25</c:v>
              </c:pt>
              <c:pt idx="5">
                <c:v>сен 25</c:v>
              </c:pt>
              <c:pt idx="6">
                <c:v>янв 26</c:v>
              </c:pt>
              <c:pt idx="7">
                <c:v>май 26</c:v>
              </c:pt>
            </c:strLit>
          </c:cat>
          <c:val>
            <c:numLit>
              <c:formatCode>0</c:formatCode>
              <c:ptCount val="8"/>
              <c:pt idx="0">
                <c:v>507</c:v>
              </c:pt>
              <c:pt idx="1">
                <c:v>2968</c:v>
              </c:pt>
              <c:pt idx="2">
                <c:v>5208</c:v>
              </c:pt>
              <c:pt idx="3">
                <c:v>7906</c:v>
              </c:pt>
              <c:pt idx="4">
                <c:v>10048</c:v>
              </c:pt>
              <c:pt idx="5">
                <c:v>12110</c:v>
              </c:pt>
              <c:pt idx="6">
                <c:v>14270</c:v>
              </c:pt>
              <c:pt idx="7">
                <c:v>15876</c:v>
              </c:pt>
            </c:numLit>
          </c:val>
        </c:ser>
        <c:ser>
          <c:idx val="1"/>
          <c:order val="1"/>
          <c:tx>
            <c:v>Активные счета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8"/>
              <c:pt idx="0">
                <c:v>янв 24</c:v>
              </c:pt>
              <c:pt idx="1">
                <c:v>май 24</c:v>
              </c:pt>
              <c:pt idx="2">
                <c:v>сен 24</c:v>
              </c:pt>
              <c:pt idx="3">
                <c:v>янв 25</c:v>
              </c:pt>
              <c:pt idx="4">
                <c:v>май 25</c:v>
              </c:pt>
              <c:pt idx="5">
                <c:v>сен 25</c:v>
              </c:pt>
              <c:pt idx="6">
                <c:v>янв 26</c:v>
              </c:pt>
              <c:pt idx="7">
                <c:v>май 26</c:v>
              </c:pt>
            </c:strLit>
          </c:cat>
          <c:val>
            <c:numLit>
              <c:formatCode>0</c:formatCode>
              <c:ptCount val="8"/>
              <c:pt idx="0">
                <c:v>266</c:v>
              </c:pt>
              <c:pt idx="1">
                <c:v>1981</c:v>
              </c:pt>
              <c:pt idx="2">
                <c:v>3581</c:v>
              </c:pt>
              <c:pt idx="3">
                <c:v>5241</c:v>
              </c:pt>
              <c:pt idx="4">
                <c:v>6635</c:v>
              </c:pt>
              <c:pt idx="5">
                <c:v>7953</c:v>
              </c:pt>
              <c:pt idx="6">
                <c:v>9077</c:v>
              </c:pt>
              <c:pt idx="7">
                <c:v>10279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333333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22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333333"/>
                </a:solidFill>
              </a:defRPr>
            </a:pPr>
          </a:p>
        </c:txPr>
        <c:crossAx val="48650112"/>
        <c:crossBetween val="between"/>
        <c:majorUnit val="500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333333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Открытые счета</c:v>
          </c:tx>
          <c:spPr>
            <a:solidFill xmlns:a="http://schemas.openxmlformats.org/drawingml/2006/main">
              <a:srgbClr val="D0EDFA"/>
            </a:solidFill>
          </c:spPr>
          <c:cat>
            <c:strLit>
              <c:ptCount val="8"/>
              <c:pt idx="0">
                <c:v>янв 24</c:v>
              </c:pt>
              <c:pt idx="1">
                <c:v>май 24</c:v>
              </c:pt>
              <c:pt idx="2">
                <c:v>сен 24</c:v>
              </c:pt>
              <c:pt idx="3">
                <c:v>янв 25</c:v>
              </c:pt>
              <c:pt idx="4">
                <c:v>май 25</c:v>
              </c:pt>
              <c:pt idx="5">
                <c:v>сен 25</c:v>
              </c:pt>
              <c:pt idx="6">
                <c:v>янв 26</c:v>
              </c:pt>
              <c:pt idx="7">
                <c:v>май 26</c:v>
              </c:pt>
            </c:strLit>
          </c:cat>
          <c:val>
            <c:numLit>
              <c:formatCode>0</c:formatCode>
              <c:ptCount val="8"/>
              <c:pt idx="0">
                <c:v>507</c:v>
              </c:pt>
              <c:pt idx="1">
                <c:v>2968</c:v>
              </c:pt>
              <c:pt idx="2">
                <c:v>5208</c:v>
              </c:pt>
              <c:pt idx="3">
                <c:v>7906</c:v>
              </c:pt>
              <c:pt idx="4">
                <c:v>10048</c:v>
              </c:pt>
              <c:pt idx="5">
                <c:v>12110</c:v>
              </c:pt>
              <c:pt idx="6">
                <c:v>14270</c:v>
              </c:pt>
              <c:pt idx="7">
                <c:v>15876</c:v>
              </c:pt>
            </c:numLit>
          </c:val>
        </c:ser>
        <c:ser>
          <c:idx val="1"/>
          <c:order val="1"/>
          <c:tx>
            <c:v>Активные счета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8"/>
              <c:pt idx="0">
                <c:v>янв 24</c:v>
              </c:pt>
              <c:pt idx="1">
                <c:v>май 24</c:v>
              </c:pt>
              <c:pt idx="2">
                <c:v>сен 24</c:v>
              </c:pt>
              <c:pt idx="3">
                <c:v>янв 25</c:v>
              </c:pt>
              <c:pt idx="4">
                <c:v>май 25</c:v>
              </c:pt>
              <c:pt idx="5">
                <c:v>сен 25</c:v>
              </c:pt>
              <c:pt idx="6">
                <c:v>янв 26</c:v>
              </c:pt>
              <c:pt idx="7">
                <c:v>май 26</c:v>
              </c:pt>
            </c:strLit>
          </c:cat>
          <c:val>
            <c:numLit>
              <c:formatCode>0</c:formatCode>
              <c:ptCount val="8"/>
              <c:pt idx="0">
                <c:v>266</c:v>
              </c:pt>
              <c:pt idx="1">
                <c:v>1981</c:v>
              </c:pt>
              <c:pt idx="2">
                <c:v>3581</c:v>
              </c:pt>
              <c:pt idx="3">
                <c:v>5241</c:v>
              </c:pt>
              <c:pt idx="4">
                <c:v>6635</c:v>
              </c:pt>
              <c:pt idx="5">
                <c:v>7953</c:v>
              </c:pt>
              <c:pt idx="6">
                <c:v>9077</c:v>
              </c:pt>
              <c:pt idx="7">
                <c:v>10279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333333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22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333333"/>
                </a:solidFill>
              </a:defRPr>
            </a:pPr>
          </a:p>
        </c:txPr>
        <c:crossAx val="48650112"/>
        <c:crossBetween val="between"/>
        <c:majorUnit val="500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333333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Открытые счета</c:v>
          </c:tx>
          <c:spPr>
            <a:solidFill xmlns:a="http://schemas.openxmlformats.org/drawingml/2006/main">
              <a:srgbClr val="D0EDFA"/>
            </a:solidFill>
          </c:spPr>
          <c:cat>
            <c:strLit>
              <c:ptCount val="8"/>
              <c:pt idx="0">
                <c:v>янв 24</c:v>
              </c:pt>
              <c:pt idx="1">
                <c:v>май 24</c:v>
              </c:pt>
              <c:pt idx="2">
                <c:v>сен 24</c:v>
              </c:pt>
              <c:pt idx="3">
                <c:v>янв 25</c:v>
              </c:pt>
              <c:pt idx="4">
                <c:v>май 25</c:v>
              </c:pt>
              <c:pt idx="5">
                <c:v>сен 25</c:v>
              </c:pt>
              <c:pt idx="6">
                <c:v>янв 26</c:v>
              </c:pt>
              <c:pt idx="7">
                <c:v>май 26</c:v>
              </c:pt>
            </c:strLit>
          </c:cat>
          <c:val>
            <c:numLit>
              <c:formatCode>0</c:formatCode>
              <c:ptCount val="8"/>
              <c:pt idx="0">
                <c:v>507</c:v>
              </c:pt>
              <c:pt idx="1">
                <c:v>2968</c:v>
              </c:pt>
              <c:pt idx="2">
                <c:v>5208</c:v>
              </c:pt>
              <c:pt idx="3">
                <c:v>7906</c:v>
              </c:pt>
              <c:pt idx="4">
                <c:v>10048</c:v>
              </c:pt>
              <c:pt idx="5">
                <c:v>12110</c:v>
              </c:pt>
              <c:pt idx="6">
                <c:v>14270</c:v>
              </c:pt>
              <c:pt idx="7">
                <c:v>15876</c:v>
              </c:pt>
            </c:numLit>
          </c:val>
        </c:ser>
        <c:ser>
          <c:idx val="1"/>
          <c:order val="1"/>
          <c:tx>
            <c:v>Активные счета</c:v>
          </c:tx>
          <c:spPr>
            <a:solidFill xmlns:a="http://schemas.openxmlformats.org/drawingml/2006/main">
              <a:srgbClr val="3D8DFF"/>
            </a:solidFill>
          </c:spPr>
          <c:cat>
            <c:strLit>
              <c:ptCount val="8"/>
              <c:pt idx="0">
                <c:v>янв 24</c:v>
              </c:pt>
              <c:pt idx="1">
                <c:v>май 24</c:v>
              </c:pt>
              <c:pt idx="2">
                <c:v>сен 24</c:v>
              </c:pt>
              <c:pt idx="3">
                <c:v>янв 25</c:v>
              </c:pt>
              <c:pt idx="4">
                <c:v>май 25</c:v>
              </c:pt>
              <c:pt idx="5">
                <c:v>сен 25</c:v>
              </c:pt>
              <c:pt idx="6">
                <c:v>янв 26</c:v>
              </c:pt>
              <c:pt idx="7">
                <c:v>май 26</c:v>
              </c:pt>
            </c:strLit>
          </c:cat>
          <c:val>
            <c:numLit>
              <c:formatCode>0</c:formatCode>
              <c:ptCount val="8"/>
              <c:pt idx="0">
                <c:v>266</c:v>
              </c:pt>
              <c:pt idx="1">
                <c:v>1981</c:v>
              </c:pt>
              <c:pt idx="2">
                <c:v>3581</c:v>
              </c:pt>
              <c:pt idx="3">
                <c:v>5241</c:v>
              </c:pt>
              <c:pt idx="4">
                <c:v>6635</c:v>
              </c:pt>
              <c:pt idx="5">
                <c:v>7953</c:v>
              </c:pt>
              <c:pt idx="6">
                <c:v>9077</c:v>
              </c:pt>
              <c:pt idx="7">
                <c:v>10279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8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B8BCC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333333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22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DEDED"/>
              </a:solidFill>
              <a:prstDash val="solid"/>
            </a:ln>
          </c:spPr>
        </c:majorGridlines>
        <c:numFmt formatCode="#,##0"/>
        <c:majorTickMark val="none"/>
        <c:minorTickMark val="none"/>
        <c:spPr>
          <a:ln xmlns:a="http://schemas.openxmlformats.org/drawingml/2006/main" w="0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333333"/>
                </a:solidFill>
              </a:defRPr>
            </a:pPr>
          </a:p>
        </c:txPr>
        <c:crossAx val="48650112"/>
        <c:crossBetween val="between"/>
        <c:majorUnit val="5000"/>
      </c:valAx>
      <c:spPr>
        <a:noFill xmlns:a="http://schemas.openxmlformats.org/drawingml/2006/main"/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333333"/>
              </a:solidFill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solidFill>
        <a:srgbClr val="FFFFFF"/>
      </a:solidFill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1-title">
            <a:extLst xmlns:a="http://schemas.openxmlformats.org/drawingml/2006/main">
              <a:ext uri="{FF2B5EF4-FFF2-40B4-BE49-F238E27FC236}">
                <a16:creationId xmlns:a16="http://schemas.microsoft.com/office/drawing/2014/main" id="{F09FD2E7-0A85-4586-99F0-EA3742E7A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Банк уже прибылен; CAC окупается за 18 мес.</a:t>
            </a:r>
          </a:p>
        </p:txBody>
      </p:sp>
      <p:sp>
        <p:nvSpPr>
          <p:cNvPr id="2" name="slide1-chart-label">
            <a:extLst xmlns:a="http://schemas.openxmlformats.org/drawingml/2006/main">
              <a:ext uri="{FF2B5EF4-FFF2-40B4-BE49-F238E27FC236}">
                <a16:creationId xmlns:a16="http://schemas.microsoft.com/office/drawing/2014/main" id="{627448D7-380A-44FC-BCEA-18123CC12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066800"/>
            <a:ext cx="5476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4444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1425" b="1">
                <a:solidFill>
                  <a:srgbClr val="444444"/>
                </a:solidFill>
                <a:latin typeface="Helvetica Neue"/>
                <a:ea typeface="Helvetica Neue"/>
                <a:cs typeface="Helvetica Neue"/>
              </a:rPr>
              <a:t>Маржа после CAC, тыс. ₽ на одно привлечение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381000" y="1504950"/>
          <a:ext xmlns:a="http://schemas.openxmlformats.org/drawingml/2006/main" cx="5572125" cy="4686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bd109b349c94a9f"/>
          </a:graphicData>
        </a:graphic>
      </p:graphicFrame>
      <p:sp>
        <p:nvSpPr>
          <p:cNvPr id="4" name="slide1-reading">
            <a:extLst xmlns:a="http://schemas.openxmlformats.org/drawingml/2006/main">
              <a:ext uri="{FF2B5EF4-FFF2-40B4-BE49-F238E27FC236}">
                <a16:creationId xmlns:a16="http://schemas.microsoft.com/office/drawing/2014/main" id="{6B5DD929-4DF3-4E94-91FE-6D1182E6F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304925"/>
            <a:ext cx="5524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Текущая база генерирует прибыль до расходов на новое привлечение. Если сервис начислять во все открытые месяцы, нулевой остаток даёт убыток; 25 тыс. ₽ уже возвращают маржу в плюс.</a:t>
            </a:r>
          </a:p>
        </p:txBody>
      </p:sp>
      <p:sp>
        <p:nvSpPr>
          <p:cNvPr id="5" name="slide1-panel-profit">
            <a:extLst xmlns:a="http://schemas.openxmlformats.org/drawingml/2006/main">
              <a:ext uri="{FF2B5EF4-FFF2-40B4-BE49-F238E27FC236}">
                <a16:creationId xmlns:a16="http://schemas.microsoft.com/office/drawing/2014/main" id="{D72D04A6-5CF2-42CF-ACDE-2C71DAB2B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105150"/>
            <a:ext cx="2581275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solidFill>
              <a:srgbClr val="F2F2F2"/>
            </a:solidFill>
            <a:prstDash val="solid"/>
          </a:ln>
        </p:spPr>
      </p:sp>
      <p:sp>
        <p:nvSpPr>
          <p:cNvPr id="6" name="slide1-profit">
            <a:extLst xmlns:a="http://schemas.openxmlformats.org/drawingml/2006/main">
              <a:ext uri="{FF2B5EF4-FFF2-40B4-BE49-F238E27FC236}">
                <a16:creationId xmlns:a16="http://schemas.microsoft.com/office/drawing/2014/main" id="{045B54D4-8D24-44F7-8E8A-2805486FA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381375"/>
            <a:ext cx="209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rPr>
              <a:t>45 млн ₽</a:t>
            </a:r>
          </a:p>
        </p:txBody>
      </p:sp>
      <p:sp>
        <p:nvSpPr>
          <p:cNvPr id="7" name="slide1-profit-label">
            <a:extLst xmlns:a="http://schemas.openxmlformats.org/drawingml/2006/main">
              <a:ext uri="{FF2B5EF4-FFF2-40B4-BE49-F238E27FC236}">
                <a16:creationId xmlns:a16="http://schemas.microsoft.com/office/drawing/2014/main" id="{B4B6FFEA-493D-4802-9B0C-EE13A9802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362450"/>
            <a:ext cx="2057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ежемесячная прибыль текущей базы</a:t>
            </a:r>
          </a:p>
        </p:txBody>
      </p:sp>
      <p:sp>
        <p:nvSpPr>
          <p:cNvPr id="8" name="slide1-panel-payback">
            <a:extLst xmlns:a="http://schemas.openxmlformats.org/drawingml/2006/main">
              <a:ext uri="{FF2B5EF4-FFF2-40B4-BE49-F238E27FC236}">
                <a16:creationId xmlns:a16="http://schemas.microsoft.com/office/drawing/2014/main" id="{CC4F5D6D-3D4F-4277-A811-1F655EA0A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3105150"/>
            <a:ext cx="2581275" cy="2743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solidFill>
              <a:srgbClr val="F2F2F2"/>
            </a:solidFill>
            <a:prstDash val="solid"/>
          </a:ln>
        </p:spPr>
      </p:sp>
      <p:sp>
        <p:nvSpPr>
          <p:cNvPr id="9" name="slide1-payback">
            <a:extLst xmlns:a="http://schemas.openxmlformats.org/drawingml/2006/main">
              <a:ext uri="{FF2B5EF4-FFF2-40B4-BE49-F238E27FC236}">
                <a16:creationId xmlns:a16="http://schemas.microsoft.com/office/drawing/2014/main" id="{12261BAF-904D-4B42-B7F3-F34CC808E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3381375"/>
            <a:ext cx="2095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85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85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rPr>
              <a:t>18 мес.</a:t>
            </a:r>
          </a:p>
        </p:txBody>
      </p:sp>
      <p:sp>
        <p:nvSpPr>
          <p:cNvPr id="10" name="slide1-payback-label">
            <a:extLst xmlns:a="http://schemas.openxmlformats.org/drawingml/2006/main">
              <a:ext uri="{FF2B5EF4-FFF2-40B4-BE49-F238E27FC236}">
                <a16:creationId xmlns:a16="http://schemas.microsoft.com/office/drawing/2014/main" id="{ACE21190-95D9-4344-A142-4BAC2E221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77375" y="4362450"/>
            <a:ext cx="20574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65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срок окупаемости CAC в базовом сценарии</a:t>
            </a:r>
          </a:p>
        </p:txBody>
      </p:sp>
      <p:sp>
        <p:nvSpPr>
          <p:cNvPr id="11" name="source-1">
            <a:extLst xmlns:a="http://schemas.openxmlformats.org/drawingml/2006/main">
              <a:ext uri="{FF2B5EF4-FFF2-40B4-BE49-F238E27FC236}">
                <a16:creationId xmlns:a16="http://schemas.microsoft.com/office/drawing/2014/main" id="{4ED3F10E-3018-4FDF-A221-40630AFED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962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Источник: расчёты модели; горизонт наблюдения — 29 месяцев</a:t>
            </a:r>
          </a:p>
        </p:txBody>
      </p:sp>
      <p:sp>
        <p:nvSpPr>
          <p:cNvPr id="12" name="page-1">
            <a:extLst xmlns:a="http://schemas.openxmlformats.org/drawingml/2006/main">
              <a:ext uri="{FF2B5EF4-FFF2-40B4-BE49-F238E27FC236}">
                <a16:creationId xmlns:a16="http://schemas.microsoft.com/office/drawing/2014/main" id="{EA14ADFC-E381-4279-AF76-6ED9FCF5E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817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4444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444444"/>
                </a:solidFill>
                <a:latin typeface="Helvetica Neue"/>
                <a:ea typeface="Helvetica Neue"/>
                <a:cs typeface="Helvetica Neue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44429882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2-title">
            <a:extLst xmlns:a="http://schemas.openxmlformats.org/drawingml/2006/main">
              <a:ext uri="{FF2B5EF4-FFF2-40B4-BE49-F238E27FC236}">
                <a16:creationId xmlns:a16="http://schemas.microsoft.com/office/drawing/2014/main" id="{F7DFBAA9-EBA7-44D0-A23B-7E60B3715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Нужно 2 113 новых клиентов в месяц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381000" y="1200150"/>
          <a:ext xmlns:a="http://schemas.openxmlformats.org/drawingml/2006/main" cx="5524500" cy="5000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761a1a36f0c4d28"/>
          </a:graphicData>
        </a:graphic>
      </p:graphicFrame>
      <p:sp>
        <p:nvSpPr>
          <p:cNvPr id="3" name="slide2-panel-1">
            <a:extLst xmlns:a="http://schemas.openxmlformats.org/drawingml/2006/main">
              <a:ext uri="{FF2B5EF4-FFF2-40B4-BE49-F238E27FC236}">
                <a16:creationId xmlns:a16="http://schemas.microsoft.com/office/drawing/2014/main" id="{71BE8BF3-4117-437F-A07F-9FDA57505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200150"/>
            <a:ext cx="55340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solidFill>
              <a:srgbClr val="F2F2F2"/>
            </a:solidFill>
            <a:prstDash val="solid"/>
          </a:ln>
        </p:spPr>
      </p:sp>
      <p:sp>
        <p:nvSpPr>
          <p:cNvPr id="4" name="slide2-stat-1">
            <a:extLst xmlns:a="http://schemas.openxmlformats.org/drawingml/2006/main">
              <a:ext uri="{FF2B5EF4-FFF2-40B4-BE49-F238E27FC236}">
                <a16:creationId xmlns:a16="http://schemas.microsoft.com/office/drawing/2014/main" id="{271BD13D-F2DD-4F56-97BF-40B57478B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419225"/>
            <a:ext cx="4905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rPr>
              <a:t>2 113</a:t>
            </a:r>
          </a:p>
        </p:txBody>
      </p:sp>
      <p:sp>
        <p:nvSpPr>
          <p:cNvPr id="5" name="slide2-label-1">
            <a:extLst xmlns:a="http://schemas.openxmlformats.org/drawingml/2006/main">
              <a:ext uri="{FF2B5EF4-FFF2-40B4-BE49-F238E27FC236}">
                <a16:creationId xmlns:a16="http://schemas.microsoft.com/office/drawing/2014/main" id="{B9221B50-1322-48A8-9598-C95CB1FF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952625"/>
            <a:ext cx="4905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новых клиентов в месяц — минимальный устойчивый поток</a:t>
            </a:r>
          </a:p>
        </p:txBody>
      </p:sp>
      <p:sp>
        <p:nvSpPr>
          <p:cNvPr id="6" name="slide2-panel-2">
            <a:extLst xmlns:a="http://schemas.openxmlformats.org/drawingml/2006/main">
              <a:ext uri="{FF2B5EF4-FFF2-40B4-BE49-F238E27FC236}">
                <a16:creationId xmlns:a16="http://schemas.microsoft.com/office/drawing/2014/main" id="{2967ABD8-699E-4E8D-88EB-E248FD0C8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55340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solidFill>
              <a:srgbClr val="F2F2F2"/>
            </a:solidFill>
            <a:prstDash val="solid"/>
          </a:ln>
        </p:spPr>
      </p:sp>
      <p:sp>
        <p:nvSpPr>
          <p:cNvPr id="7" name="slide2-stat-2">
            <a:extLst xmlns:a="http://schemas.openxmlformats.org/drawingml/2006/main">
              <a:ext uri="{FF2B5EF4-FFF2-40B4-BE49-F238E27FC236}">
                <a16:creationId xmlns:a16="http://schemas.microsoft.com/office/drawing/2014/main" id="{49E7949B-6F82-4715-8C20-20792BAE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076575"/>
            <a:ext cx="4905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rPr>
              <a:t>7 367 ₽</a:t>
            </a:r>
          </a:p>
        </p:txBody>
      </p:sp>
      <p:sp>
        <p:nvSpPr>
          <p:cNvPr id="8" name="slide2-label-2">
            <a:extLst xmlns:a="http://schemas.openxmlformats.org/drawingml/2006/main">
              <a:ext uri="{FF2B5EF4-FFF2-40B4-BE49-F238E27FC236}">
                <a16:creationId xmlns:a16="http://schemas.microsoft.com/office/drawing/2014/main" id="{4D77AEC3-7EAA-4230-8638-E30BDE72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09975"/>
            <a:ext cx="4905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LTV до CAC при нулевом среднем остатке</a:t>
            </a:r>
          </a:p>
        </p:txBody>
      </p:sp>
      <p:sp>
        <p:nvSpPr>
          <p:cNvPr id="9" name="slide2-panel-3">
            <a:extLst xmlns:a="http://schemas.openxmlformats.org/drawingml/2006/main">
              <a:ext uri="{FF2B5EF4-FFF2-40B4-BE49-F238E27FC236}">
                <a16:creationId xmlns:a16="http://schemas.microsoft.com/office/drawing/2014/main" id="{CAA7C704-AE6E-42D6-B948-0D90C2ECD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514850"/>
            <a:ext cx="5534025" cy="1428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0">
            <a:solidFill>
              <a:srgbClr val="F2F2F2"/>
            </a:solidFill>
            <a:prstDash val="solid"/>
          </a:ln>
        </p:spPr>
      </p:sp>
      <p:sp>
        <p:nvSpPr>
          <p:cNvPr id="10" name="slide2-stat-3">
            <a:extLst xmlns:a="http://schemas.openxmlformats.org/drawingml/2006/main">
              <a:ext uri="{FF2B5EF4-FFF2-40B4-BE49-F238E27FC236}">
                <a16:creationId xmlns:a16="http://schemas.microsoft.com/office/drawing/2014/main" id="{673C395B-47FB-4484-9655-08277FFE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733925"/>
            <a:ext cx="4905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rPr>
              <a:t>122 клиента · 0,61%</a:t>
            </a:r>
          </a:p>
        </p:txBody>
      </p:sp>
      <p:sp>
        <p:nvSpPr>
          <p:cNvPr id="11" name="slide2-label-3">
            <a:extLst xmlns:a="http://schemas.openxmlformats.org/drawingml/2006/main">
              <a:ext uri="{FF2B5EF4-FFF2-40B4-BE49-F238E27FC236}">
                <a16:creationId xmlns:a16="http://schemas.microsoft.com/office/drawing/2014/main" id="{7D5A923D-CF74-437E-890D-28540BE62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267325"/>
            <a:ext cx="4905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открывали счёт повторно; вклад в рост пока ограничен</a:t>
            </a:r>
          </a:p>
        </p:txBody>
      </p:sp>
      <p:sp>
        <p:nvSpPr>
          <p:cNvPr id="12" name="source-2">
            <a:extLst xmlns:a="http://schemas.openxmlformats.org/drawingml/2006/main">
              <a:ext uri="{FF2B5EF4-FFF2-40B4-BE49-F238E27FC236}">
                <a16:creationId xmlns:a16="http://schemas.microsoft.com/office/drawing/2014/main" id="{53E3A59F-FBEC-410F-A0AC-E643AAAE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962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Источник: клиентская активность, январь 2024 — май 2026</a:t>
            </a:r>
          </a:p>
        </p:txBody>
      </p:sp>
      <p:sp>
        <p:nvSpPr>
          <p:cNvPr id="13" name="page-2">
            <a:extLst xmlns:a="http://schemas.openxmlformats.org/drawingml/2006/main">
              <a:ext uri="{FF2B5EF4-FFF2-40B4-BE49-F238E27FC236}">
                <a16:creationId xmlns:a16="http://schemas.microsoft.com/office/drawing/2014/main" id="{8FE0F372-C976-48A4-AA0C-B065922F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817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4444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444444"/>
                </a:solidFill>
                <a:latin typeface="Helvetica Neue"/>
                <a:ea typeface="Helvetica Neue"/>
                <a:cs typeface="Helvetica Neue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59128656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2-title">
            <a:extLst xmlns:a="http://schemas.openxmlformats.org/drawingml/2006/main">
              <a:ext uri="{FF2B5EF4-FFF2-40B4-BE49-F238E27FC236}">
                <a16:creationId xmlns:a16="http://schemas.microsoft.com/office/drawing/2014/main" id="{F7DFBAA9-EBA7-44D0-A23B-7E60B3715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Окупаемость банка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-19050000" y="-19050000"/>
          <a:ext xmlns:a="http://schemas.openxmlformats.org/drawingml/2006/main" cx="9525" cy="95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5f33aafa10649c6"/>
          </a:graphicData>
        </a:graphic>
      </p:graphicFrame>
      <p:sp>
        <p:nvSpPr>
          <p:cNvPr id="4" name="slide2-stat-1">
            <a:extLst xmlns:a="http://schemas.openxmlformats.org/drawingml/2006/main">
              <a:ext uri="{FF2B5EF4-FFF2-40B4-BE49-F238E27FC236}">
                <a16:creationId xmlns:a16="http://schemas.microsoft.com/office/drawing/2014/main" id="{271BD13D-F2DD-4F56-97BF-40B57478B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162050"/>
            <a:ext cx="11391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rPr>
              <a:t>Воспроизводимое решение</a:t>
            </a:r>
          </a:p>
        </p:txBody>
      </p:sp>
      <p:sp>
        <p:nvSpPr>
          <p:cNvPr id="5" name="slide2-label-1">
            <a:extLst xmlns:a="http://schemas.openxmlformats.org/drawingml/2006/main">
              <a:ext uri="{FF2B5EF4-FFF2-40B4-BE49-F238E27FC236}">
                <a16:creationId xmlns:a16="http://schemas.microsoft.com/office/drawing/2014/main" id="{B9221B50-1322-48A8-9598-C95CB1FF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09725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Проверка клиентской активности, когортная модель, юнит-экономика и сценарный график окупаемости от среднего остатка.</a:t>
            </a:r>
          </a:p>
        </p:txBody>
      </p:sp>
      <p:sp>
        <p:nvSpPr>
          <p:cNvPr id="7" name="slide2-stat-2">
            <a:extLst xmlns:a="http://schemas.openxmlformats.org/drawingml/2006/main">
              <a:ext uri="{FF2B5EF4-FFF2-40B4-BE49-F238E27FC236}">
                <a16:creationId xmlns:a16="http://schemas.microsoft.com/office/drawing/2014/main" id="{49E7949B-6F82-4715-8C20-20792BAE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333625"/>
            <a:ext cx="11391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rPr>
              <a:t>Основные выводы</a:t>
            </a:r>
          </a:p>
        </p:txBody>
      </p:sp>
      <p:sp>
        <p:nvSpPr>
          <p:cNvPr id="8" name="slide2-label-2">
            <a:extLst xmlns:a="http://schemas.openxmlformats.org/drawingml/2006/main">
              <a:ext uri="{FF2B5EF4-FFF2-40B4-BE49-F238E27FC236}">
                <a16:creationId xmlns:a16="http://schemas.microsoft.com/office/drawing/2014/main" id="{4D77AEC3-7EAA-4230-8638-E30BDE72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771775"/>
            <a:ext cx="11391900" cy="1685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Текущая база из 100 000 активных клиентов приносит 45 млн руб. в месяц до расходов на новое привлечение: 100 000 × (1 000 − 500) − 5 млн.</a:t>
            </a:r>
          </a:p>
          <a:p xmlns:a="http://schemas.openxmlformats.org/drawingml/2006/main">
            <a:pPr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Следовательно, банк уже операционно прибылен при заданных вводных.</a:t>
            </a:r>
          </a:p>
          <a:p xmlns:a="http://schemas.openxmlformats.org/drawingml/2006/main">
            <a:pPr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При обслуживании только в активные месяцы и среднем остатке 0 руб. один привлечённый счёт даёт 2 367 руб. маржи после CAC на 29-месячном горизонте.</a:t>
            </a:r>
          </a:p>
          <a:p xmlns:a="http://schemas.openxmlformats.org/drawingml/2006/main">
            <a:pPr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Для покрытия постоянных расходов только новым потоком требуется 2 113 новых клиентов в месяц.</a:t>
            </a:r>
          </a:p>
        </p:txBody>
      </p:sp>
      <p:sp>
        <p:nvSpPr>
          <p:cNvPr id="10" name="slide2-stat-3">
            <a:extLst xmlns:a="http://schemas.openxmlformats.org/drawingml/2006/main">
              <a:ext uri="{FF2B5EF4-FFF2-40B4-BE49-F238E27FC236}">
                <a16:creationId xmlns:a16="http://schemas.microsoft.com/office/drawing/2014/main" id="{673C395B-47FB-4484-9655-08277FFE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52950"/>
            <a:ext cx="11391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rPr>
              <a:t>Acquisition engine</a:t>
            </a:r>
          </a:p>
        </p:txBody>
      </p:sp>
      <p:sp>
        <p:nvSpPr>
          <p:cNvPr id="11" name="slide2-label-3">
            <a:extLst xmlns:a="http://schemas.openxmlformats.org/drawingml/2006/main">
              <a:ext uri="{FF2B5EF4-FFF2-40B4-BE49-F238E27FC236}">
                <a16:creationId xmlns:a16="http://schemas.microsoft.com/office/drawing/2014/main" id="{7D5A923D-CF74-437E-890D-28540BE62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991100"/>
            <a:ext cx="11391900" cy="1181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LTV до CAC без дохода на остаток — 7 367 руб.; CAC окупается за 18 месяцев.</a:t>
            </a:r>
          </a:p>
          <a:p xmlns:a="http://schemas.openxmlformats.org/drawingml/2006/main">
            <a:pPr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122 клиента (0,61% выборки) открыли счёт повторно; обнаружено 125 повторных счетов.</a:t>
            </a:r>
          </a:p>
          <a:p xmlns:a="http://schemas.openxmlformats.org/drawingml/2006/main">
            <a:pPr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• Состояние действующего банка и окупаемость привлечения — разные управленческие вопросы; в дашборде они показаны раздельно.</a:t>
            </a:r>
          </a:p>
        </p:txBody>
      </p:sp>
      <p:sp>
        <p:nvSpPr>
          <p:cNvPr id="12" name="source-2">
            <a:extLst xmlns:a="http://schemas.openxmlformats.org/drawingml/2006/main">
              <a:ext uri="{FF2B5EF4-FFF2-40B4-BE49-F238E27FC236}">
                <a16:creationId xmlns:a16="http://schemas.microsoft.com/office/drawing/2014/main" id="{53E3A59F-FBEC-410F-A0AC-E643AAAE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962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Источник: README проекта</a:t>
            </a:r>
          </a:p>
        </p:txBody>
      </p:sp>
      <p:sp>
        <p:nvSpPr>
          <p:cNvPr id="13" name="page-2">
            <a:extLst xmlns:a="http://schemas.openxmlformats.org/drawingml/2006/main">
              <a:ext uri="{FF2B5EF4-FFF2-40B4-BE49-F238E27FC236}">
                <a16:creationId xmlns:a16="http://schemas.microsoft.com/office/drawing/2014/main" id="{8FE0F372-C976-48A4-AA0C-B065922F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817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4444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444444"/>
                </a:solidFill>
                <a:latin typeface="Helvetica Neue"/>
                <a:ea typeface="Helvetica Neue"/>
                <a:cs typeface="Helvetica Neue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5912865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slide2-title">
            <a:extLst xmlns:a="http://schemas.openxmlformats.org/drawingml/2006/main">
              <a:ext uri="{FF2B5EF4-FFF2-40B4-BE49-F238E27FC236}">
                <a16:creationId xmlns:a16="http://schemas.microsoft.com/office/drawing/2014/main" id="{F7DFBAA9-EBA7-44D0-A23B-7E60B3715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23850"/>
            <a:ext cx="11391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3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3600" b="1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Ограничения</a:t>
            </a:r>
          </a:p>
        </p:txBody>
      </p:sp>
      <p:graphicFrame>
        <p:nvGraphicFramePr>
          <p:cNvPr id="17" name="Chart"/>
          <p:cNvGraphicFramePr/>
          <p:nvPr/>
        </p:nvGraphicFramePr>
        <p:xfrm>
          <a:off xmlns:a="http://schemas.openxmlformats.org/drawingml/2006/main" x="-19050000" y="-19050000"/>
          <a:ext xmlns:a="http://schemas.openxmlformats.org/drawingml/2006/main" cx="9525" cy="95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603cd441a8f4679"/>
          </a:graphicData>
        </a:graphic>
      </p:graphicFrame>
      <p:sp>
        <p:nvSpPr>
          <p:cNvPr id="4" name="slide2-stat-1">
            <a:extLst xmlns:a="http://schemas.openxmlformats.org/drawingml/2006/main">
              <a:ext uri="{FF2B5EF4-FFF2-40B4-BE49-F238E27FC236}">
                <a16:creationId xmlns:a16="http://schemas.microsoft.com/office/drawing/2014/main" id="{271BD13D-F2DD-4F56-97BF-40B57478B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219200"/>
            <a:ext cx="11391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rPr>
              <a:t>Горизонт наблюдения</a:t>
            </a:r>
          </a:p>
        </p:txBody>
      </p:sp>
      <p:sp>
        <p:nvSpPr>
          <p:cNvPr id="5" name="slide2-label-1">
            <a:extLst xmlns:a="http://schemas.openxmlformats.org/drawingml/2006/main">
              <a:ext uri="{FF2B5EF4-FFF2-40B4-BE49-F238E27FC236}">
                <a16:creationId xmlns:a16="http://schemas.microsoft.com/office/drawing/2014/main" id="{B9221B50-1322-48A8-9598-C95CB1FF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1676400"/>
            <a:ext cx="113919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LTV усечён фактически наблюдаемыми 29 месяцами и является консервативным для долгоживущих счетов.</a:t>
            </a:r>
          </a:p>
        </p:txBody>
      </p:sp>
      <p:sp>
        <p:nvSpPr>
          <p:cNvPr id="7" name="slide2-stat-2">
            <a:extLst xmlns:a="http://schemas.openxmlformats.org/drawingml/2006/main">
              <a:ext uri="{FF2B5EF4-FFF2-40B4-BE49-F238E27FC236}">
                <a16:creationId xmlns:a16="http://schemas.microsoft.com/office/drawing/2014/main" id="{49E7949B-6F82-4715-8C20-20792BAE5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2667000"/>
            <a:ext cx="11391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rPr>
              <a:t>Модельные допущения</a:t>
            </a:r>
          </a:p>
        </p:txBody>
      </p:sp>
      <p:sp>
        <p:nvSpPr>
          <p:cNvPr id="8" name="slide2-label-2">
            <a:extLst xmlns:a="http://schemas.openxmlformats.org/drawingml/2006/main">
              <a:ext uri="{FF2B5EF4-FFF2-40B4-BE49-F238E27FC236}">
                <a16:creationId xmlns:a16="http://schemas.microsoft.com/office/drawing/2014/main" id="{4D77AEC3-7EAA-4230-8638-E30BDE723A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3124200"/>
            <a:ext cx="113919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Доход на остатки начисляется только в активные месяцы; это явное модельное допущение. Закрытие определяется как последний наблюдаемый месяц раньше мая 2026 года.</a:t>
            </a:r>
          </a:p>
        </p:txBody>
      </p:sp>
      <p:sp>
        <p:nvSpPr>
          <p:cNvPr id="10" name="slide2-stat-3">
            <a:extLst xmlns:a="http://schemas.openxmlformats.org/drawingml/2006/main">
              <a:ext uri="{FF2B5EF4-FFF2-40B4-BE49-F238E27FC236}">
                <a16:creationId xmlns:a16="http://schemas.microsoft.com/office/drawing/2014/main" id="{673C395B-47FB-4484-9655-08277FFE8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4572000"/>
            <a:ext cx="113919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defRPr>
            </a:pPr>
            <a:r>
              <a:rPr sz="2400" b="1">
                <a:solidFill>
                  <a:srgbClr val="1769E0"/>
                </a:solidFill>
                <a:latin typeface="Helvetica Neue"/>
                <a:ea typeface="Helvetica Neue"/>
                <a:cs typeface="Helvetica Neue"/>
              </a:rPr>
              <a:t>Масштабирование</a:t>
            </a:r>
          </a:p>
        </p:txBody>
      </p:sp>
      <p:sp>
        <p:nvSpPr>
          <p:cNvPr id="11" name="slide2-label-3">
            <a:extLst xmlns:a="http://schemas.openxmlformats.org/drawingml/2006/main">
              <a:ext uri="{FF2B5EF4-FFF2-40B4-BE49-F238E27FC236}">
                <a16:creationId xmlns:a16="http://schemas.microsoft.com/office/drawing/2014/main" id="{7D5A923D-CF74-437E-890D-28540BE62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029200"/>
            <a:ext cx="113919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rPr sz="15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rPr>
              <a:t>Датасет является рандомизированной выборкой, поэтому денежные оценки масштабируются через предоставленную базу действующих клиентов, а не через 20 000 клиентов выборки.</a:t>
            </a:r>
          </a:p>
        </p:txBody>
      </p:sp>
      <p:sp>
        <p:nvSpPr>
          <p:cNvPr id="12" name="source-2">
            <a:extLst xmlns:a="http://schemas.openxmlformats.org/drawingml/2006/main">
              <a:ext uri="{FF2B5EF4-FFF2-40B4-BE49-F238E27FC236}">
                <a16:creationId xmlns:a16="http://schemas.microsoft.com/office/drawing/2014/main" id="{53E3A59F-FBEC-410F-A0AC-E643AAAE0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6429375"/>
            <a:ext cx="9620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>
              <a:buNone/>
              <a:def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666666"/>
                </a:solidFill>
                <a:latin typeface="Helvetica Neue"/>
                <a:ea typeface="Helvetica Neue"/>
                <a:cs typeface="Helvetica Neue"/>
              </a:rPr>
              <a:t>Источник: README проекта</a:t>
            </a:r>
          </a:p>
        </p:txBody>
      </p:sp>
      <p:sp>
        <p:nvSpPr>
          <p:cNvPr id="13" name="page-2">
            <a:extLst xmlns:a="http://schemas.openxmlformats.org/drawingml/2006/main">
              <a:ext uri="{FF2B5EF4-FFF2-40B4-BE49-F238E27FC236}">
                <a16:creationId xmlns:a16="http://schemas.microsoft.com/office/drawing/2014/main" id="{8FE0F372-C976-48A4-AA0C-B065922FD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7600" y="63817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975">
                <a:solidFill>
                  <a:srgbClr val="444444"/>
                </a:solidFill>
                <a:latin typeface="Helvetica Neue"/>
                <a:ea typeface="Helvetica Neue"/>
                <a:cs typeface="Helvetica Neue"/>
              </a:defRPr>
            </a:pPr>
            <a:r>
              <a:rPr sz="975">
                <a:solidFill>
                  <a:srgbClr val="444444"/>
                </a:solidFill>
                <a:latin typeface="Helvetica Neue"/>
                <a:ea typeface="Helvetica Neue"/>
                <a:cs typeface="Helvetica Neue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91286560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2026-08-10T07:14:10.4720000Z</dcterms:created>
  <dcterms:modified xsi:type="dcterms:W3CDTF">2026-08-10T07:14:10.4720000Z</dcterms:modified>
</coreProperties>
</file>