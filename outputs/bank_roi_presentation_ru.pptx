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76d6188a894003" /><Relationship Type="http://schemas.openxmlformats.org/officeDocument/2006/relationships/extended-properties" Target="/docProps/app.xml" Id="R557576a742ea4de3" /><Relationship Type="http://schemas.openxmlformats.org/officeDocument/2006/relationships/officeDocument" Target="/ppt/presentation.xml" Id="R73b209246d904a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d06cf0fe3e48d1"/>
  </p:sldMasterIdLst>
  <p:notesMasterIdLst>
    <p:notesMasterId xmlns:r="http://schemas.openxmlformats.org/officeDocument/2006/relationships" r:id="R916098676ba1429c"/>
  </p:notesMasterIdLst>
  <p:sldIdLst>
    <p:sldId xmlns:r="http://schemas.openxmlformats.org/officeDocument/2006/relationships" id="256" r:id="R631839c1024e4a75"/>
    <p:sldId xmlns:r="http://schemas.openxmlformats.org/officeDocument/2006/relationships" id="257" r:id="Ra9d6a4e8d24142a5"/>
    <p:sldId xmlns:r="http://schemas.openxmlformats.org/officeDocument/2006/relationships" id="258" r:id="Re7d8b66d6cb64c2f"/>
    <p:sldId xmlns:r="http://schemas.openxmlformats.org/officeDocument/2006/relationships" id="259" r:id="Rbfc57193ed214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9953fffae49f0" /><Relationship Type="http://schemas.openxmlformats.org/officeDocument/2006/relationships/slideMaster" Target="/ppt/slideMasters/slideMaster1.xml" Id="Redd06cf0fe3e48d1" /><Relationship Type="http://schemas.openxmlformats.org/officeDocument/2006/relationships/notesMaster" Target="/ppt/notesMasters/notesMaster1.xml" Id="R916098676ba1429c" /><Relationship Type="http://schemas.openxmlformats.org/officeDocument/2006/relationships/presProps" Target="/ppt/presProps.xml" Id="Rd0aa82b34d654ff1" /><Relationship Type="http://schemas.openxmlformats.org/officeDocument/2006/relationships/tableStyles" Target="/ppt/tableStyles.xml" Id="Rcf2b4903f3384c82" /><Relationship Type="http://schemas.openxmlformats.org/officeDocument/2006/relationships/slide" Target="/ppt/slides/slide1.xml" Id="R631839c1024e4a75" /><Relationship Type="http://schemas.openxmlformats.org/officeDocument/2006/relationships/slide" Target="/ppt/slides/slide2.xml" Id="Ra9d6a4e8d24142a5" /><Relationship Type="http://schemas.openxmlformats.org/officeDocument/2006/relationships/slide" Target="/ppt/slides/slide3.xml" Id="Re7d8b66d6cb64c2f" /><Relationship Type="http://schemas.openxmlformats.org/officeDocument/2006/relationships/slide" Target="/ppt/slides/slide4.xml" Id="Rbfc57193ed214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b80bf858a9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a4867c373e480e" /><Relationship Type="http://schemas.openxmlformats.org/officeDocument/2006/relationships/notesMaster" Target="/ppt/notesMasters/notesMaster1.xml" Id="R10737a52e47e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7b0fc140a4856" /><Relationship Type="http://schemas.openxmlformats.org/officeDocument/2006/relationships/notesMaster" Target="/ppt/notesMasters/notesMaster1.xml" Id="R950c90fba82f4c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65183a0c6c48cd" /><Relationship Type="http://schemas.openxmlformats.org/officeDocument/2006/relationships/notesMaster" Target="/ppt/notesMasters/notesMaster1.xml" Id="R61d4676333f645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dbfadc57c4889" /><Relationship Type="http://schemas.openxmlformats.org/officeDocument/2006/relationships/notesMaster" Target="/ppt/notesMasters/notesMaster1.xml" Id="Rfeed73e9e09540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/Users/alexandra/Documents/Codex/2026-08-09/yt/data/processed/tableau_model_summary.csv</a:t>
            </a:r>
          </a:p>
          <a:p xmlns:a="http://schemas.openxmlformats.org/drawingml/2006/main">
            <a:r>
              <a:t>- /Users/alexandra/Documents/Codex/2026-08-09/yt/data/processed/tableau_break_even_scenarios.csv</a:t>
            </a:r>
          </a:p>
          <a:p xmlns:a="http://schemas.openxmlformats.org/drawingml/2006/main">
            <a:r>
              <a:t>- https://github.com/alexsoldatova/bank-roi-tableau-dashboard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/Users/alexandra/Documents/Codex/2026-08-09/yt/data/processed/tableau_model_summary.csv</a:t>
            </a:r>
          </a:p>
          <a:p xmlns:a="http://schemas.openxmlformats.org/drawingml/2006/main">
            <a:r>
              <a:t>- /Users/alexandra/Documents/Codex/2026-08-09/yt/data/processed/tableau_monthly_activity.csv</a:t>
            </a:r>
          </a:p>
          <a:p xmlns:a="http://schemas.openxmlformats.org/drawingml/2006/main">
            <a:r>
              <a:t>- https://github.com/alexsoldatova/bank-roi-tableau-dashboard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/Users/alexandra/Documents/Codex/2026-08-09/yt/README.md</a:t>
            </a:r>
          </a:p>
          <a:p xmlns:a="http://schemas.openxmlformats.org/drawingml/2006/main">
            <a:r>
              <a:t>- /Users/alexandra/Documents/Codex/2026-08-09/yt/data/processed/tableau_tenure_curve.csv</a:t>
            </a:r>
          </a:p>
          <a:p xmlns:a="http://schemas.openxmlformats.org/drawingml/2006/main">
            <a:r>
              <a:t>- https://github.com/alexsoldatova/bank-roi-tableau-dashboard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/Users/alexandra/Documents/Codex/2026-08-09/yt/README.md</a:t>
            </a:r>
          </a:p>
          <a:p xmlns:a="http://schemas.openxmlformats.org/drawingml/2006/main">
            <a:r>
              <a:t>- /Users/alexandra/Documents/Codex/2026-08-09/yt/config/assumptions.json</a:t>
            </a:r>
          </a:p>
          <a:p xmlns:a="http://schemas.openxmlformats.org/drawingml/2006/main">
            <a:r>
              <a:t>- /Users/alexandra/Documents/Codex/2026-08-09/yt/tests</a:t>
            </a:r>
          </a:p>
          <a:p xmlns:a="http://schemas.openxmlformats.org/drawingml/2006/main">
            <a:r>
              <a:t>- https://github.com/alexsoldatova/bank-roi-tableau-dashboard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3149835244b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45e3f3c8b4a70" /><Relationship Type="http://schemas.openxmlformats.org/officeDocument/2006/relationships/slideLayout" Target="/ppt/slideLayouts/slideLayout1.xml" Id="R359ff6d82ddb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ff6d82ddb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2627f92d742e2" /><Relationship Type="http://schemas.openxmlformats.org/officeDocument/2006/relationships/chart" Target="/ppt/slides/charts/chart1.xml" Id="Re31ebe76e4d94b2e" /><Relationship Type="http://schemas.openxmlformats.org/officeDocument/2006/relationships/notesSlide" Target="/ppt/notesSlides/notesSlide1.xml" Id="R60dfae2b422045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49ec0e29945db" /><Relationship Type="http://schemas.openxmlformats.org/officeDocument/2006/relationships/chart" Target="/ppt/slides/charts/chart2.xml" Id="Reff25a675a3d4686" /><Relationship Type="http://schemas.openxmlformats.org/officeDocument/2006/relationships/notesSlide" Target="/ppt/notesSlides/notesSlide2.xml" Id="R4569cdc082b84d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c2e20888b4205" /><Relationship Type="http://schemas.openxmlformats.org/officeDocument/2006/relationships/chart" Target="/ppt/slides/charts/chart3.xml" Id="R8a62830263394edc" /><Relationship Type="http://schemas.openxmlformats.org/officeDocument/2006/relationships/notesSlide" Target="/ppt/notesSlides/notesSlide3.xml" Id="R984f096957b649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7afe126be4f14" /><Relationship Type="http://schemas.openxmlformats.org/officeDocument/2006/relationships/chart" Target="/ppt/slides/charts/chart4.xml" Id="Rf911a6cecf614712" /><Relationship Type="http://schemas.openxmlformats.org/officeDocument/2006/relationships/notesSlide" Target="/ppt/notesSlides/notesSlide4.xml" Id="R91aeecbf510b44d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Сервис только в активные месяцы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  <c:pt idx="5">
                <c:v>125</c:v>
              </c:pt>
              <c:pt idx="6">
                <c:v>150</c:v>
              </c:pt>
            </c:numLit>
          </c:cat>
          <c:val>
            <c:numLit>
              <c:formatCode>0.0</c:formatCode>
              <c:ptCount val="7"/>
              <c:pt idx="0">
                <c:v>2.367102727235553</c:v>
              </c:pt>
              <c:pt idx="1">
                <c:v>5.436728863583699</c:v>
              </c:pt>
              <c:pt idx="2">
                <c:v>8.50635499993185</c:v>
              </c:pt>
              <c:pt idx="3">
                <c:v>11.57598113628</c:v>
              </c:pt>
              <c:pt idx="4">
                <c:v>14.645607272628146</c:v>
              </c:pt>
              <c:pt idx="5">
                <c:v>17.715233408976292</c:v>
              </c:pt>
              <c:pt idx="6">
                <c:v>20.784859545324437</c:v>
              </c:pt>
            </c:numLit>
          </c:val>
        </c:ser>
        <c:ser>
          <c:idx val="1"/>
          <c:order val="1"/>
          <c:tx>
            <c:v>Сервис во все открытые месяцы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6DCBF4"/>
              </a:solidFill>
            </c:spPr>
          </c:marker>
          <c:cat>
            <c:numLit>
              <c:formatCode>General</c:formatCode>
              <c:ptCount val="7"/>
              <c:pt idx="0">
                <c:v>0</c:v>
              </c:pt>
              <c:pt idx="1">
                <c:v>25</c:v>
              </c:pt>
              <c:pt idx="2">
                <c:v>50</c:v>
              </c:pt>
              <c:pt idx="3">
                <c:v>75</c:v>
              </c:pt>
              <c:pt idx="4">
                <c:v>100</c:v>
              </c:pt>
              <c:pt idx="5">
                <c:v>125</c:v>
              </c:pt>
              <c:pt idx="6">
                <c:v>150</c:v>
              </c:pt>
            </c:numLit>
          </c:cat>
          <c:val>
            <c:numLit>
              <c:formatCode>0.0</c:formatCode>
              <c:ptCount val="7"/>
              <c:pt idx="0">
                <c:v>-1.6405733704628092</c:v>
              </c:pt>
              <c:pt idx="1">
                <c:v>1.4290527658853371</c:v>
              </c:pt>
              <c:pt idx="2">
                <c:v>4.498678902233487</c:v>
              </c:pt>
              <c:pt idx="3">
                <c:v>7.568305038581637</c:v>
              </c:pt>
              <c:pt idx="4">
                <c:v>10.637931174929783</c:v>
              </c:pt>
              <c:pt idx="5">
                <c:v>13.707557311277931</c:v>
              </c:pt>
              <c:pt idx="6">
                <c:v>16.777183447626076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333333"/>
                    </a:solidFill>
                  </a:rPr>
                  <a:t>Средний остаток, тыс. 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3333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Открытые счета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8"/>
              <c:pt idx="0">
                <c:v>янв 24</c:v>
              </c:pt>
              <c:pt idx="1">
                <c:v>май 24</c:v>
              </c:pt>
              <c:pt idx="2">
                <c:v>сен 24</c:v>
              </c:pt>
              <c:pt idx="3">
                <c:v>янв 25</c:v>
              </c:pt>
              <c:pt idx="4">
                <c:v>май 25</c:v>
              </c:pt>
              <c:pt idx="5">
                <c:v>сен 25</c:v>
              </c:pt>
              <c:pt idx="6">
                <c:v>янв 26</c:v>
              </c:pt>
              <c:pt idx="7">
                <c:v>май 26</c:v>
              </c:pt>
            </c:strLit>
          </c:cat>
          <c:val>
            <c:numLit>
              <c:formatCode>0</c:formatCode>
              <c:ptCount val="8"/>
              <c:pt idx="0">
                <c:v>507</c:v>
              </c:pt>
              <c:pt idx="1">
                <c:v>2968</c:v>
              </c:pt>
              <c:pt idx="2">
                <c:v>5208</c:v>
              </c:pt>
              <c:pt idx="3">
                <c:v>7906</c:v>
              </c:pt>
              <c:pt idx="4">
                <c:v>10048</c:v>
              </c:pt>
              <c:pt idx="5">
                <c:v>12110</c:v>
              </c:pt>
              <c:pt idx="6">
                <c:v>14270</c:v>
              </c:pt>
              <c:pt idx="7">
                <c:v>15876</c:v>
              </c:pt>
            </c:numLit>
          </c:val>
        </c:ser>
        <c:ser>
          <c:idx val="1"/>
          <c:order val="1"/>
          <c:tx>
            <c:v>Активные счета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8"/>
              <c:pt idx="0">
                <c:v>янв 24</c:v>
              </c:pt>
              <c:pt idx="1">
                <c:v>май 24</c:v>
              </c:pt>
              <c:pt idx="2">
                <c:v>сен 24</c:v>
              </c:pt>
              <c:pt idx="3">
                <c:v>янв 25</c:v>
              </c:pt>
              <c:pt idx="4">
                <c:v>май 25</c:v>
              </c:pt>
              <c:pt idx="5">
                <c:v>сен 25</c:v>
              </c:pt>
              <c:pt idx="6">
                <c:v>янв 26</c:v>
              </c:pt>
              <c:pt idx="7">
                <c:v>май 26</c:v>
              </c:pt>
            </c:strLit>
          </c:cat>
          <c:val>
            <c:numLit>
              <c:formatCode>0</c:formatCode>
              <c:ptCount val="8"/>
              <c:pt idx="0">
                <c:v>266</c:v>
              </c:pt>
              <c:pt idx="1">
                <c:v>1981</c:v>
              </c:pt>
              <c:pt idx="2">
                <c:v>3581</c:v>
              </c:pt>
              <c:pt idx="3">
                <c:v>5241</c:v>
              </c:pt>
              <c:pt idx="4">
                <c:v>6635</c:v>
              </c:pt>
              <c:pt idx="5">
                <c:v>7953</c:v>
              </c:pt>
              <c:pt idx="6">
                <c:v>9077</c:v>
              </c:pt>
              <c:pt idx="7">
                <c:v>10279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33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3333"/>
                </a:solidFill>
              </a:defRPr>
            </a:pPr>
          </a:p>
        </c:txPr>
        <c:crossAx val="48650112"/>
        <c:crossBetween val="between"/>
        <c:majorUnit val="5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Счёт открыт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6"/>
              <c:pt idx="0">
                <c:v>0 мес.</c:v>
              </c:pt>
              <c:pt idx="1">
                <c:v>6 мес.</c:v>
              </c:pt>
              <c:pt idx="2">
                <c:v>12 мес.</c:v>
              </c:pt>
              <c:pt idx="3">
                <c:v>18 мес.</c:v>
              </c:pt>
              <c:pt idx="4">
                <c:v>24 мес.</c:v>
              </c:pt>
              <c:pt idx="5">
                <c:v>28 мес.</c:v>
              </c:pt>
            </c:strLit>
          </c:cat>
          <c:val>
            <c:numLit>
              <c:formatCode>0</c:formatCode>
              <c:ptCount val="6"/>
              <c:pt idx="0">
                <c:v>1</c:v>
              </c:pt>
              <c:pt idx="1">
                <c:v>0.8831728966120765</c:v>
              </c:pt>
              <c:pt idx="2">
                <c:v>0.7989358963357075</c:v>
              </c:pt>
              <c:pt idx="3">
                <c:v>0.7221917808219178</c:v>
              </c:pt>
              <c:pt idx="4">
                <c:v>0.6524547803617571</c:v>
              </c:pt>
              <c:pt idx="5">
                <c:v>0.6548323471400395</c:v>
              </c:pt>
            </c:numLit>
          </c:val>
        </c:ser>
        <c:ser>
          <c:idx val="1"/>
          <c:order val="1"/>
          <c:tx>
            <c:v>Счёт активен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0 мес.</c:v>
              </c:pt>
              <c:pt idx="1">
                <c:v>6 мес.</c:v>
              </c:pt>
              <c:pt idx="2">
                <c:v>12 мес.</c:v>
              </c:pt>
              <c:pt idx="3">
                <c:v>18 мес.</c:v>
              </c:pt>
              <c:pt idx="4">
                <c:v>24 мес.</c:v>
              </c:pt>
              <c:pt idx="5">
                <c:v>28 мес.</c:v>
              </c:pt>
            </c:strLit>
          </c:cat>
          <c:val>
            <c:numLit>
              <c:formatCode>0</c:formatCode>
              <c:ptCount val="6"/>
              <c:pt idx="0">
                <c:v>0.5658136645962732</c:v>
              </c:pt>
              <c:pt idx="1">
                <c:v>0.5957619702462807</c:v>
              </c:pt>
              <c:pt idx="2">
                <c:v>0.5270745730713121</c:v>
              </c:pt>
              <c:pt idx="3">
                <c:v>0.4626027397260274</c:v>
              </c:pt>
              <c:pt idx="4">
                <c:v>0.3875968992248062</c:v>
              </c:pt>
              <c:pt idx="5">
                <c:v>0.41222879684418146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33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3333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Ожидаемые месяцы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2"/>
              <c:pt idx="0">
                <c:v>Активные</c:v>
              </c:pt>
              <c:pt idx="1">
                <c:v>Открытые</c:v>
              </c:pt>
            </c:strLit>
          </c:cat>
          <c:val>
            <c:numLit>
              <c:formatCode>0.0</c:formatCode>
              <c:ptCount val="2"/>
              <c:pt idx="0">
                <c:v>14.7342</c:v>
              </c:pt>
              <c:pt idx="1">
                <c:v>22.7496</c:v>
              </c:pt>
            </c:numLit>
          </c:val>
        </c:ser>
        <c:ser>
          <c:idx val="1"/>
          <c:order val="1"/>
          <c:tx>
            <c:v>Предел наблюдения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Активные</c:v>
              </c:pt>
              <c:pt idx="1">
                <c:v>Открытые</c:v>
              </c:pt>
            </c:strLit>
          </c:cat>
          <c:val>
            <c:numLit>
              <c:formatCode>0.0</c:formatCode>
              <c:ptCount val="2"/>
              <c:pt idx="0">
                <c:v>29</c:v>
              </c:pt>
              <c:pt idx="1">
                <c:v>29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33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3333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33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F09FD2E7-0A85-4586-99F0-EA3742E7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Банк уже прибылен; CAC окупается за 18 мес.</a:t>
            </a:r>
          </a:p>
        </p:txBody>
      </p:sp>
      <p:sp>
        <p:nvSpPr>
          <p:cNvPr id="2" name="slide1-chart-label">
            <a:extLst xmlns:a="http://schemas.openxmlformats.org/drawingml/2006/main">
              <a:ext uri="{FF2B5EF4-FFF2-40B4-BE49-F238E27FC236}">
                <a16:creationId xmlns:a16="http://schemas.microsoft.com/office/drawing/2014/main" id="{627448D7-380A-44FC-BCEA-18123CC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44444"/>
                </a:solidFill>
                <a:latin typeface="Helvetica Neue"/>
                <a:ea typeface="Helvetica Neue"/>
                <a:cs typeface="Helvetica Neue"/>
              </a:rPr>
              <a:t>Маржа после CAC, тыс. ₽ на одно привлечение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504950"/>
          <a:ext xmlns:a="http://schemas.openxmlformats.org/drawingml/2006/main" cx="5572125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1ebe76e4d94b2e"/>
          </a:graphicData>
        </a:graphic>
      </p:graphicFrame>
      <p:sp>
        <p:nvSpPr>
          <p:cNvPr id="4" name="slide1-reading">
            <a:extLst xmlns:a="http://schemas.openxmlformats.org/drawingml/2006/main">
              <a:ext uri="{FF2B5EF4-FFF2-40B4-BE49-F238E27FC236}">
                <a16:creationId xmlns:a16="http://schemas.microsoft.com/office/drawing/2014/main" id="{6B5DD929-4DF3-4E94-91FE-6D1182E6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04925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Текущая база генерирует прибыль до расходов на новое привлечение. Если сервис начислять во все открытые месяцы, нулевой остаток даёт убыток; 25 тыс. ₽ уже возвращают маржу в плюс.</a:t>
            </a:r>
          </a:p>
        </p:txBody>
      </p:sp>
      <p:sp>
        <p:nvSpPr>
          <p:cNvPr id="5" name="slide1-panel-profit">
            <a:extLst xmlns:a="http://schemas.openxmlformats.org/drawingml/2006/main">
              <a:ext uri="{FF2B5EF4-FFF2-40B4-BE49-F238E27FC236}">
                <a16:creationId xmlns:a16="http://schemas.microsoft.com/office/drawing/2014/main" id="{D72D04A6-5CF2-42CF-ACDE-2C71DAB2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58127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slide1-profit">
            <a:extLst xmlns:a="http://schemas.openxmlformats.org/drawingml/2006/main">
              <a:ext uri="{FF2B5EF4-FFF2-40B4-BE49-F238E27FC236}">
                <a16:creationId xmlns:a16="http://schemas.microsoft.com/office/drawing/2014/main" id="{045B54D4-8D24-44F7-8E8A-2805486F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813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45 млн ₽</a:t>
            </a:r>
          </a:p>
        </p:txBody>
      </p:sp>
      <p:sp>
        <p:nvSpPr>
          <p:cNvPr id="7" name="slide1-profit-label">
            <a:extLst xmlns:a="http://schemas.openxmlformats.org/drawingml/2006/main">
              <a:ext uri="{FF2B5EF4-FFF2-40B4-BE49-F238E27FC236}">
                <a16:creationId xmlns:a16="http://schemas.microsoft.com/office/drawing/2014/main" id="{B4B6FFEA-493D-4802-9B0C-EE13A980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ежемесячная прибыль текущей базы</a:t>
            </a:r>
          </a:p>
        </p:txBody>
      </p:sp>
      <p:sp>
        <p:nvSpPr>
          <p:cNvPr id="8" name="slide1-panel-payback">
            <a:extLst xmlns:a="http://schemas.openxmlformats.org/drawingml/2006/main">
              <a:ext uri="{FF2B5EF4-FFF2-40B4-BE49-F238E27FC236}">
                <a16:creationId xmlns:a16="http://schemas.microsoft.com/office/drawing/2014/main" id="{CC4F5D6D-3D4F-4277-A811-1F655EA0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05150"/>
            <a:ext cx="258127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9" name="slide1-payback">
            <a:extLst xmlns:a="http://schemas.openxmlformats.org/drawingml/2006/main">
              <a:ext uri="{FF2B5EF4-FFF2-40B4-BE49-F238E27FC236}">
                <a16:creationId xmlns:a16="http://schemas.microsoft.com/office/drawing/2014/main" id="{12261BAF-904D-4B42-B7F3-F34CC808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813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18 мес.</a:t>
            </a:r>
          </a:p>
        </p:txBody>
      </p:sp>
      <p:sp>
        <p:nvSpPr>
          <p:cNvPr id="10" name="slide1-payback-label">
            <a:extLst xmlns:a="http://schemas.openxmlformats.org/drawingml/2006/main">
              <a:ext uri="{FF2B5EF4-FFF2-40B4-BE49-F238E27FC236}">
                <a16:creationId xmlns:a16="http://schemas.microsoft.com/office/drawing/2014/main" id="{ACE21190-95D9-4344-A142-4BAC2E22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057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срок окупаемости CAC в базовом сценарии</a:t>
            </a:r>
          </a:p>
        </p:txBody>
      </p:sp>
      <p:sp>
        <p:nvSpPr>
          <p:cNvPr id="11" name="source-1">
            <a:extLst xmlns:a="http://schemas.openxmlformats.org/drawingml/2006/main">
              <a:ext uri="{FF2B5EF4-FFF2-40B4-BE49-F238E27FC236}">
                <a16:creationId xmlns:a16="http://schemas.microsoft.com/office/drawing/2014/main" id="{4ED3F10E-3018-4FDF-A221-40630AFE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Источник: расчёты модели; горизонт наблюдения — 29 месяцев</a:t>
            </a:r>
          </a:p>
        </p:txBody>
      </p:sp>
      <p:sp>
        <p:nvSpPr>
          <p:cNvPr id="12" name="page-1">
            <a:extLst xmlns:a="http://schemas.openxmlformats.org/drawingml/2006/main">
              <a:ext uri="{FF2B5EF4-FFF2-40B4-BE49-F238E27FC236}">
                <a16:creationId xmlns:a16="http://schemas.microsoft.com/office/drawing/2014/main" id="{EA14ADFC-E381-4279-AF76-6ED9FCF5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44298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F7DFBAA9-EBA7-44D0-A23B-7E60B37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Нужно 2 113 новых клиентов в месяц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200150"/>
          <a:ext xmlns:a="http://schemas.openxmlformats.org/drawingml/2006/main" cx="552450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f25a675a3d4686"/>
          </a:graphicData>
        </a:graphic>
      </p:graphicFrame>
      <p:sp>
        <p:nvSpPr>
          <p:cNvPr id="3" name="slide2-panel-1">
            <a:extLst xmlns:a="http://schemas.openxmlformats.org/drawingml/2006/main">
              <a:ext uri="{FF2B5EF4-FFF2-40B4-BE49-F238E27FC236}">
                <a16:creationId xmlns:a16="http://schemas.microsoft.com/office/drawing/2014/main" id="{71BE8BF3-4117-437F-A07F-9FDA575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slide2-stat-1">
            <a:extLst xmlns:a="http://schemas.openxmlformats.org/drawingml/2006/main">
              <a:ext uri="{FF2B5EF4-FFF2-40B4-BE49-F238E27FC236}">
                <a16:creationId xmlns:a16="http://schemas.microsoft.com/office/drawing/2014/main" id="{271BD13D-F2DD-4F56-97BF-40B5747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192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2 113</a:t>
            </a:r>
          </a:p>
        </p:txBody>
      </p:sp>
      <p:sp>
        <p:nvSpPr>
          <p:cNvPr id="5" name="slide2-label-1">
            <a:extLst xmlns:a="http://schemas.openxmlformats.org/drawingml/2006/main">
              <a:ext uri="{FF2B5EF4-FFF2-40B4-BE49-F238E27FC236}">
                <a16:creationId xmlns:a16="http://schemas.microsoft.com/office/drawing/2014/main" id="{B9221B50-1322-48A8-9598-C95CB1F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новых клиентов в месяц — минимальный устойчивый поток</a:t>
            </a:r>
          </a:p>
        </p:txBody>
      </p:sp>
      <p:sp>
        <p:nvSpPr>
          <p:cNvPr id="6" name="slide2-panel-2">
            <a:extLst xmlns:a="http://schemas.openxmlformats.org/drawingml/2006/main">
              <a:ext uri="{FF2B5EF4-FFF2-40B4-BE49-F238E27FC236}">
                <a16:creationId xmlns:a16="http://schemas.microsoft.com/office/drawing/2014/main" id="{2967ABD8-699E-4E8D-88EB-E248FD0C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slide2-stat-2">
            <a:extLst xmlns:a="http://schemas.openxmlformats.org/drawingml/2006/main">
              <a:ext uri="{FF2B5EF4-FFF2-40B4-BE49-F238E27FC236}">
                <a16:creationId xmlns:a16="http://schemas.microsoft.com/office/drawing/2014/main" id="{49E7949B-6F82-4715-8C20-20792BAE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7 367 ₽</a:t>
            </a:r>
          </a:p>
        </p:txBody>
      </p:sp>
      <p:sp>
        <p:nvSpPr>
          <p:cNvPr id="8" name="slide2-label-2">
            <a:extLst xmlns:a="http://schemas.openxmlformats.org/drawingml/2006/main">
              <a:ext uri="{FF2B5EF4-FFF2-40B4-BE49-F238E27FC236}">
                <a16:creationId xmlns:a16="http://schemas.microsoft.com/office/drawing/2014/main" id="{4D77AEC3-7EAA-4230-8638-E30BDE7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LTV до CAC при нулевом среднем остатке</a:t>
            </a:r>
          </a:p>
        </p:txBody>
      </p:sp>
      <p:sp>
        <p:nvSpPr>
          <p:cNvPr id="9" name="slide2-panel-3">
            <a:extLst xmlns:a="http://schemas.openxmlformats.org/drawingml/2006/main">
              <a:ext uri="{FF2B5EF4-FFF2-40B4-BE49-F238E27FC236}">
                <a16:creationId xmlns:a16="http://schemas.microsoft.com/office/drawing/2014/main" id="{CAA7C704-AE6E-42D6-B948-0D90C2E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slide2-stat-3">
            <a:extLst xmlns:a="http://schemas.openxmlformats.org/drawingml/2006/main">
              <a:ext uri="{FF2B5EF4-FFF2-40B4-BE49-F238E27FC236}">
                <a16:creationId xmlns:a16="http://schemas.microsoft.com/office/drawing/2014/main" id="{673C395B-47FB-4484-9655-08277FFE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122 клиента · 0,61%</a:t>
            </a:r>
          </a:p>
        </p:txBody>
      </p:sp>
      <p:sp>
        <p:nvSpPr>
          <p:cNvPr id="11" name="slide2-label-3">
            <a:extLst xmlns:a="http://schemas.openxmlformats.org/drawingml/2006/main">
              <a:ext uri="{FF2B5EF4-FFF2-40B4-BE49-F238E27FC236}">
                <a16:creationId xmlns:a16="http://schemas.microsoft.com/office/drawing/2014/main" id="{7D5A923D-CF74-437E-890D-28540BE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открывали счёт повторно; вклад в рост пока ограничен</a:t>
            </a:r>
          </a:p>
        </p:txBody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53E3A59F-FBEC-410F-A0AC-E643AAA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Источник: клиентская активность, январь 2024 — май 2026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8FE0F372-C976-48A4-AA0C-B065922F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12865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F7DFBAA9-EBA7-44D0-A23B-7E60B37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Методика учитывает возраст счёта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200150"/>
          <a:ext xmlns:a="http://schemas.openxmlformats.org/drawingml/2006/main" cx="552450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62830263394edc"/>
          </a:graphicData>
        </a:graphic>
      </p:graphicFrame>
      <p:sp>
        <p:nvSpPr>
          <p:cNvPr id="3" name="slide2-panel-1">
            <a:extLst xmlns:a="http://schemas.openxmlformats.org/drawingml/2006/main">
              <a:ext uri="{FF2B5EF4-FFF2-40B4-BE49-F238E27FC236}">
                <a16:creationId xmlns:a16="http://schemas.microsoft.com/office/drawing/2014/main" id="{71BE8BF3-4117-437F-A07F-9FDA575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slide2-stat-1">
            <a:extLst xmlns:a="http://schemas.openxmlformats.org/drawingml/2006/main">
              <a:ext uri="{FF2B5EF4-FFF2-40B4-BE49-F238E27FC236}">
                <a16:creationId xmlns:a16="http://schemas.microsoft.com/office/drawing/2014/main" id="{271BD13D-F2DD-4F56-97BF-40B5747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192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Счёт</a:t>
            </a:r>
          </a:p>
        </p:txBody>
      </p:sp>
      <p:sp>
        <p:nvSpPr>
          <p:cNvPr id="5" name="slide2-label-1">
            <a:extLst xmlns:a="http://schemas.openxmlformats.org/drawingml/2006/main">
              <a:ext uri="{FF2B5EF4-FFF2-40B4-BE49-F238E27FC236}">
                <a16:creationId xmlns:a16="http://schemas.microsoft.com/office/drawing/2014/main" id="{B9221B50-1322-48A8-9598-C95CB1F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единица анализа: CLIENT_ID + OPEN_DATE</a:t>
            </a:r>
          </a:p>
        </p:txBody>
      </p:sp>
      <p:sp>
        <p:nvSpPr>
          <p:cNvPr id="6" name="slide2-panel-2">
            <a:extLst xmlns:a="http://schemas.openxmlformats.org/drawingml/2006/main">
              <a:ext uri="{FF2B5EF4-FFF2-40B4-BE49-F238E27FC236}">
                <a16:creationId xmlns:a16="http://schemas.microsoft.com/office/drawing/2014/main" id="{2967ABD8-699E-4E8D-88EB-E248FD0C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slide2-stat-2">
            <a:extLst xmlns:a="http://schemas.openxmlformats.org/drawingml/2006/main">
              <a:ext uri="{FF2B5EF4-FFF2-40B4-BE49-F238E27FC236}">
                <a16:creationId xmlns:a16="http://schemas.microsoft.com/office/drawing/2014/main" id="{49E7949B-6F82-4715-8C20-20792BAE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Eligible t</a:t>
            </a:r>
          </a:p>
        </p:txBody>
      </p:sp>
      <p:sp>
        <p:nvSpPr>
          <p:cNvPr id="8" name="slide2-label-2">
            <a:extLst xmlns:a="http://schemas.openxmlformats.org/drawingml/2006/main">
              <a:ext uri="{FF2B5EF4-FFF2-40B4-BE49-F238E27FC236}">
                <a16:creationId xmlns:a16="http://schemas.microsoft.com/office/drawing/2014/main" id="{4D77AEC3-7EAA-4230-8638-E30BDE7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 знаменателе только счета, успевшие дожить до месяца t</a:t>
            </a:r>
          </a:p>
        </p:txBody>
      </p:sp>
      <p:sp>
        <p:nvSpPr>
          <p:cNvPr id="9" name="slide2-panel-3">
            <a:extLst xmlns:a="http://schemas.openxmlformats.org/drawingml/2006/main">
              <a:ext uri="{FF2B5EF4-FFF2-40B4-BE49-F238E27FC236}">
                <a16:creationId xmlns:a16="http://schemas.microsoft.com/office/drawing/2014/main" id="{CAA7C704-AE6E-42D6-B948-0D90C2E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slide2-stat-3">
            <a:extLst xmlns:a="http://schemas.openxmlformats.org/drawingml/2006/main">
              <a:ext uri="{FF2B5EF4-FFF2-40B4-BE49-F238E27FC236}">
                <a16:creationId xmlns:a16="http://schemas.microsoft.com/office/drawing/2014/main" id="{673C395B-47FB-4484-9655-08277FFE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LTV</a:t>
            </a:r>
          </a:p>
        </p:txBody>
      </p:sp>
      <p:sp>
        <p:nvSpPr>
          <p:cNvPr id="11" name="slide2-label-3">
            <a:extLst xmlns:a="http://schemas.openxmlformats.org/drawingml/2006/main">
              <a:ext uri="{FF2B5EF4-FFF2-40B4-BE49-F238E27FC236}">
                <a16:creationId xmlns:a16="http://schemas.microsoft.com/office/drawing/2014/main" id="{7D5A923D-CF74-437E-890D-28540BE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комиссии + доход на остаток − сервис − CAC</a:t>
            </a:r>
          </a:p>
        </p:txBody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53E3A59F-FBEC-410F-A0AC-E643AAA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Источник: методология и формулы из README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8FE0F372-C976-48A4-AA0C-B065922F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1286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F7DFBAA9-EBA7-44D0-A23B-7E60B37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Ограничения и проверяемость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381000" y="1200150"/>
          <a:ext xmlns:a="http://schemas.openxmlformats.org/drawingml/2006/main" cx="552450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11a6cecf614712"/>
          </a:graphicData>
        </a:graphic>
      </p:graphicFrame>
      <p:sp>
        <p:nvSpPr>
          <p:cNvPr id="3" name="slide2-panel-1">
            <a:extLst xmlns:a="http://schemas.openxmlformats.org/drawingml/2006/main">
              <a:ext uri="{FF2B5EF4-FFF2-40B4-BE49-F238E27FC236}">
                <a16:creationId xmlns:a16="http://schemas.microsoft.com/office/drawing/2014/main" id="{71BE8BF3-4117-437F-A07F-9FDA5750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slide2-stat-1">
            <a:extLst xmlns:a="http://schemas.openxmlformats.org/drawingml/2006/main">
              <a:ext uri="{FF2B5EF4-FFF2-40B4-BE49-F238E27FC236}">
                <a16:creationId xmlns:a16="http://schemas.microsoft.com/office/drawing/2014/main" id="{271BD13D-F2DD-4F56-97BF-40B5747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192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29 мес.</a:t>
            </a:r>
          </a:p>
        </p:txBody>
      </p:sp>
      <p:sp>
        <p:nvSpPr>
          <p:cNvPr id="5" name="slide2-label-1">
            <a:extLst xmlns:a="http://schemas.openxmlformats.org/drawingml/2006/main">
              <a:ext uri="{FF2B5EF4-FFF2-40B4-BE49-F238E27FC236}">
                <a16:creationId xmlns:a16="http://schemas.microsoft.com/office/drawing/2014/main" id="{B9221B50-1322-48A8-9598-C95CB1F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LTV усечён наблюдаемым горизонтом</a:t>
            </a:r>
          </a:p>
        </p:txBody>
      </p:sp>
      <p:sp>
        <p:nvSpPr>
          <p:cNvPr id="6" name="slide2-panel-2">
            <a:extLst xmlns:a="http://schemas.openxmlformats.org/drawingml/2006/main">
              <a:ext uri="{FF2B5EF4-FFF2-40B4-BE49-F238E27FC236}">
                <a16:creationId xmlns:a16="http://schemas.microsoft.com/office/drawing/2014/main" id="{2967ABD8-699E-4E8D-88EB-E248FD0C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7" name="slide2-stat-2">
            <a:extLst xmlns:a="http://schemas.openxmlformats.org/drawingml/2006/main">
              <a:ext uri="{FF2B5EF4-FFF2-40B4-BE49-F238E27FC236}">
                <a16:creationId xmlns:a16="http://schemas.microsoft.com/office/drawing/2014/main" id="{49E7949B-6F82-4715-8C20-20792BAE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100 тыс.</a:t>
            </a:r>
          </a:p>
        </p:txBody>
      </p:sp>
      <p:sp>
        <p:nvSpPr>
          <p:cNvPr id="8" name="slide2-label-2">
            <a:extLst xmlns:a="http://schemas.openxmlformats.org/drawingml/2006/main">
              <a:ext uri="{FF2B5EF4-FFF2-40B4-BE49-F238E27FC236}">
                <a16:creationId xmlns:a16="http://schemas.microsoft.com/office/drawing/2014/main" id="{4D77AEC3-7EAA-4230-8638-E30BDE72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денежные оценки масштабируются через текущую базу</a:t>
            </a:r>
          </a:p>
        </p:txBody>
      </p:sp>
      <p:sp>
        <p:nvSpPr>
          <p:cNvPr id="9" name="slide2-panel-3">
            <a:extLst xmlns:a="http://schemas.openxmlformats.org/drawingml/2006/main">
              <a:ext uri="{FF2B5EF4-FFF2-40B4-BE49-F238E27FC236}">
                <a16:creationId xmlns:a16="http://schemas.microsoft.com/office/drawing/2014/main" id="{CAA7C704-AE6E-42D6-B948-0D90C2E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14850"/>
            <a:ext cx="55340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slide2-stat-3">
            <a:extLst xmlns:a="http://schemas.openxmlformats.org/drawingml/2006/main">
              <a:ext uri="{FF2B5EF4-FFF2-40B4-BE49-F238E27FC236}">
                <a16:creationId xmlns:a16="http://schemas.microsoft.com/office/drawing/2014/main" id="{673C395B-47FB-4484-9655-08277FFE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33925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769E0"/>
                </a:solidFill>
                <a:latin typeface="Helvetica Neue"/>
                <a:ea typeface="Helvetica Neue"/>
                <a:cs typeface="Helvetica Neue"/>
              </a:rPr>
              <a:t>config + tests</a:t>
            </a:r>
          </a:p>
        </p:txBody>
      </p:sp>
      <p:sp>
        <p:nvSpPr>
          <p:cNvPr id="11" name="slide2-label-3">
            <a:extLst xmlns:a="http://schemas.openxmlformats.org/drawingml/2006/main">
              <a:ext uri="{FF2B5EF4-FFF2-40B4-BE49-F238E27FC236}">
                <a16:creationId xmlns:a16="http://schemas.microsoft.com/office/drawing/2014/main" id="{7D5A923D-CF74-437E-890D-28540BE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67325"/>
            <a:ext cx="4905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допущения вынесены отдельно, расчёты проверяются автоматически</a:t>
            </a:r>
          </a:p>
        </p:txBody>
      </p:sp>
      <p:sp>
        <p:nvSpPr>
          <p:cNvPr id="12" name="source-2">
            <a:extLst xmlns:a="http://schemas.openxmlformats.org/drawingml/2006/main">
              <a:ext uri="{FF2B5EF4-FFF2-40B4-BE49-F238E27FC236}">
                <a16:creationId xmlns:a16="http://schemas.microsoft.com/office/drawing/2014/main" id="{53E3A59F-FBEC-410F-A0AC-E643AAAE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Источник: ограничения и структура проекта из README</a:t>
            </a:r>
          </a:p>
        </p:txBody>
      </p:sp>
      <p:sp>
        <p:nvSpPr>
          <p:cNvPr id="13" name="page-2">
            <a:extLst xmlns:a="http://schemas.openxmlformats.org/drawingml/2006/main">
              <a:ext uri="{FF2B5EF4-FFF2-40B4-BE49-F238E27FC236}">
                <a16:creationId xmlns:a16="http://schemas.microsoft.com/office/drawing/2014/main" id="{8FE0F372-C976-48A4-AA0C-B065922F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44444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91286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2026-08-10T07:01:03.6520000Z</dcterms:created>
  <dcterms:modified xsi:type="dcterms:W3CDTF">2026-08-10T07:01:03.6520000Z</dcterms:modified>
</coreProperties>
</file>