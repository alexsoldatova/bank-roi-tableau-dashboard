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2.xml" ContentType="application/vnd.openxmlformats-officedocument.drawingml.chart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06ee4d105846f4" /><Relationship Type="http://schemas.openxmlformats.org/officeDocument/2006/relationships/extended-properties" Target="/docProps/app.xml" Id="R594865dd2a804f4a" /><Relationship Type="http://schemas.openxmlformats.org/officeDocument/2006/relationships/officeDocument" Target="/ppt/presentation.xml" Id="R947c05ca9b474b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edfdf9692244d3"/>
  </p:sldMasterIdLst>
  <p:notesMasterIdLst>
    <p:notesMasterId xmlns:r="http://schemas.openxmlformats.org/officeDocument/2006/relationships" r:id="R4e0ac66e7c3d4ac3"/>
  </p:notesMasterIdLst>
  <p:sldIdLst>
    <p:sldId xmlns:r="http://schemas.openxmlformats.org/officeDocument/2006/relationships" id="256" r:id="R7ce4a22cde524132"/>
    <p:sldId xmlns:r="http://schemas.openxmlformats.org/officeDocument/2006/relationships" id="257" r:id="R2ecf7c8671c94e5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20e532a9e94ed3" /><Relationship Type="http://schemas.openxmlformats.org/officeDocument/2006/relationships/slideMaster" Target="/ppt/slideMasters/slideMaster1.xml" Id="Rf5edfdf9692244d3" /><Relationship Type="http://schemas.openxmlformats.org/officeDocument/2006/relationships/notesMaster" Target="/ppt/notesMasters/notesMaster1.xml" Id="R4e0ac66e7c3d4ac3" /><Relationship Type="http://schemas.openxmlformats.org/officeDocument/2006/relationships/presProps" Target="/ppt/presProps.xml" Id="Re0e9c5decaad40db" /><Relationship Type="http://schemas.openxmlformats.org/officeDocument/2006/relationships/tableStyles" Target="/ppt/tableStyles.xml" Id="R4daf0adb330147b8" /><Relationship Type="http://schemas.openxmlformats.org/officeDocument/2006/relationships/slide" Target="/ppt/slides/slide1.xml" Id="R7ce4a22cde524132" /><Relationship Type="http://schemas.openxmlformats.org/officeDocument/2006/relationships/slide" Target="/ppt/slides/slide2.xml" Id="R2ecf7c8671c94e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549a5a463d4f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9d071dbd8d4828" /><Relationship Type="http://schemas.openxmlformats.org/officeDocument/2006/relationships/notesMaster" Target="/ppt/notesMasters/notesMaster1.xml" Id="R3a4dd6ed39a946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a4d6bb36194085" /><Relationship Type="http://schemas.openxmlformats.org/officeDocument/2006/relationships/notesMaster" Target="/ppt/notesMasters/notesMaster1.xml" Id="R93061c0fc9234a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/Users/alexandra/Documents/Codex/2026-08-09/yt/data/processed/tableau_model_summary.csv</a:t>
            </a:r>
          </a:p>
          <a:p xmlns:a="http://schemas.openxmlformats.org/drawingml/2006/main">
            <a:r>
              <a:t>- /Users/alexandra/Documents/Codex/2026-08-09/yt/data/processed/tableau_break_even_scenarios.csv</a:t>
            </a:r>
          </a:p>
          <a:p xmlns:a="http://schemas.openxmlformats.org/drawingml/2006/main">
            <a:r>
              <a:t>- https://github.com/alexsoldatova/bank-roi-tableau-dashboard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/Users/alexandra/Documents/Codex/2026-08-09/yt/data/processed/tableau_model_summary.csv</a:t>
            </a:r>
          </a:p>
          <a:p xmlns:a="http://schemas.openxmlformats.org/drawingml/2006/main">
            <a:r>
              <a:t>- /Users/alexandra/Documents/Codex/2026-08-09/yt/data/processed/tableau_monthly_activity.csv</a:t>
            </a:r>
          </a:p>
          <a:p xmlns:a="http://schemas.openxmlformats.org/drawingml/2006/main">
            <a:r>
              <a:t>- https://github.com/alexsoldatova/bank-roi-tableau-dashboard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9562d62aa141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555b43b8c04868" /><Relationship Type="http://schemas.openxmlformats.org/officeDocument/2006/relationships/slideLayout" Target="/ppt/slideLayouts/slideLayout1.xml" Id="R35ea1f3c62aa43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ea1f3c62aa43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74bf6959344dd" /><Relationship Type="http://schemas.openxmlformats.org/officeDocument/2006/relationships/chart" Target="/ppt/slides/charts/chart1.xml" Id="Rb6c107bf72e1456c" /><Relationship Type="http://schemas.openxmlformats.org/officeDocument/2006/relationships/notesSlide" Target="/ppt/notesSlides/notesSlide1.xml" Id="Rcff2e5a792554e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c452a2cf943f6" /><Relationship Type="http://schemas.openxmlformats.org/officeDocument/2006/relationships/chart" Target="/ppt/slides/charts/chart2.xml" Id="R3cfbd0954ed14e0c" /><Relationship Type="http://schemas.openxmlformats.org/officeDocument/2006/relationships/notesSlide" Target="/ppt/notesSlides/notesSlide2.xml" Id="R94f36cd29ec040f2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Сервис только в активные месяцы</c:v>
          </c:tx>
          <c:spPr>
            <a:ln xmlns:a="http://schemas.openxmlformats.org/drawingml/2006/main" w="38100">
              <a:solidFill>
                <a:srgbClr val="3D8DFF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3D8DFF"/>
              </a:solidFill>
            </c:spPr>
          </c:marker>
          <c:cat>
            <c:numLit>
              <c:formatCode>General</c:formatCode>
              <c:ptCount val="7"/>
              <c:pt idx="0">
                <c:v>0</c:v>
              </c:pt>
              <c:pt idx="1">
                <c:v>25</c:v>
              </c:pt>
              <c:pt idx="2">
                <c:v>50</c:v>
              </c:pt>
              <c:pt idx="3">
                <c:v>75</c:v>
              </c:pt>
              <c:pt idx="4">
                <c:v>100</c:v>
              </c:pt>
              <c:pt idx="5">
                <c:v>125</c:v>
              </c:pt>
              <c:pt idx="6">
                <c:v>150</c:v>
              </c:pt>
            </c:numLit>
          </c:cat>
          <c:val>
            <c:numLit>
              <c:formatCode>0.0</c:formatCode>
              <c:ptCount val="7"/>
              <c:pt idx="0">
                <c:v>2.367102727235553</c:v>
              </c:pt>
              <c:pt idx="1">
                <c:v>5.436728863583699</c:v>
              </c:pt>
              <c:pt idx="2">
                <c:v>8.50635499993185</c:v>
              </c:pt>
              <c:pt idx="3">
                <c:v>11.57598113628</c:v>
              </c:pt>
              <c:pt idx="4">
                <c:v>14.645607272628146</c:v>
              </c:pt>
              <c:pt idx="5">
                <c:v>17.715233408976292</c:v>
              </c:pt>
              <c:pt idx="6">
                <c:v>20.784859545324437</c:v>
              </c:pt>
            </c:numLit>
          </c:val>
        </c:ser>
        <c:ser>
          <c:idx val="1"/>
          <c:order val="1"/>
          <c:tx>
            <c:v>Сервис во все открытые месяцы</c:v>
          </c:tx>
          <c:spPr>
            <a:ln xmlns:a="http://schemas.openxmlformats.org/drawingml/2006/main" w="28575">
              <a:solidFill>
                <a:srgbClr val="6DCBF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6DCBF4"/>
              </a:solidFill>
            </c:spPr>
          </c:marker>
          <c:cat>
            <c:numLit>
              <c:formatCode>General</c:formatCode>
              <c:ptCount val="7"/>
              <c:pt idx="0">
                <c:v>0</c:v>
              </c:pt>
              <c:pt idx="1">
                <c:v>25</c:v>
              </c:pt>
              <c:pt idx="2">
                <c:v>50</c:v>
              </c:pt>
              <c:pt idx="3">
                <c:v>75</c:v>
              </c:pt>
              <c:pt idx="4">
                <c:v>100</c:v>
              </c:pt>
              <c:pt idx="5">
                <c:v>125</c:v>
              </c:pt>
              <c:pt idx="6">
                <c:v>150</c:v>
              </c:pt>
            </c:numLit>
          </c:cat>
          <c:val>
            <c:numLit>
              <c:formatCode>0.0</c:formatCode>
              <c:ptCount val="7"/>
              <c:pt idx="0">
                <c:v>-1.6405733704628092</c:v>
              </c:pt>
              <c:pt idx="1">
                <c:v>1.4290527658853371</c:v>
              </c:pt>
              <c:pt idx="2">
                <c:v>4.498678902233487</c:v>
              </c:pt>
              <c:pt idx="3">
                <c:v>7.568305038581637</c:v>
              </c:pt>
              <c:pt idx="4">
                <c:v>10.637931174929783</c:v>
              </c:pt>
              <c:pt idx="5">
                <c:v>13.707557311277931</c:v>
              </c:pt>
              <c:pt idx="6">
                <c:v>16.777183447626076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75">
                    <a:solidFill>
                      <a:srgbClr val="333333"/>
                    </a:solidFill>
                  </a:rPr>
                  <a:t>Средний остаток, тыс. ₽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333333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33333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5"/>
          <c:min val="-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333333"/>
                </a:solidFill>
              </a:defRPr>
            </a:pPr>
          </a:p>
        </c:txPr>
        <c:crossAx val="48650112"/>
        <c:crossBetween val="between"/>
        <c:majorUnit val="5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333333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Открытые счета</c:v>
          </c:tx>
          <c:spPr>
            <a:solidFill xmlns:a="http://schemas.openxmlformats.org/drawingml/2006/main">
              <a:srgbClr val="D0EDFA"/>
            </a:solidFill>
          </c:spPr>
          <c:cat>
            <c:strLit>
              <c:ptCount val="8"/>
              <c:pt idx="0">
                <c:v>янв 24</c:v>
              </c:pt>
              <c:pt idx="1">
                <c:v>май 24</c:v>
              </c:pt>
              <c:pt idx="2">
                <c:v>сен 24</c:v>
              </c:pt>
              <c:pt idx="3">
                <c:v>янв 25</c:v>
              </c:pt>
              <c:pt idx="4">
                <c:v>май 25</c:v>
              </c:pt>
              <c:pt idx="5">
                <c:v>сен 25</c:v>
              </c:pt>
              <c:pt idx="6">
                <c:v>янв 26</c:v>
              </c:pt>
              <c:pt idx="7">
                <c:v>май 26</c:v>
              </c:pt>
            </c:strLit>
          </c:cat>
          <c:val>
            <c:numLit>
              <c:formatCode>0</c:formatCode>
              <c:ptCount val="8"/>
              <c:pt idx="0">
                <c:v>507</c:v>
              </c:pt>
              <c:pt idx="1">
                <c:v>2968</c:v>
              </c:pt>
              <c:pt idx="2">
                <c:v>5208</c:v>
              </c:pt>
              <c:pt idx="3">
                <c:v>7906</c:v>
              </c:pt>
              <c:pt idx="4">
                <c:v>10048</c:v>
              </c:pt>
              <c:pt idx="5">
                <c:v>12110</c:v>
              </c:pt>
              <c:pt idx="6">
                <c:v>14270</c:v>
              </c:pt>
              <c:pt idx="7">
                <c:v>15876</c:v>
              </c:pt>
            </c:numLit>
          </c:val>
        </c:ser>
        <c:ser>
          <c:idx val="1"/>
          <c:order val="1"/>
          <c:tx>
            <c:v>Активные счета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8"/>
              <c:pt idx="0">
                <c:v>янв 24</c:v>
              </c:pt>
              <c:pt idx="1">
                <c:v>май 24</c:v>
              </c:pt>
              <c:pt idx="2">
                <c:v>сен 24</c:v>
              </c:pt>
              <c:pt idx="3">
                <c:v>янв 25</c:v>
              </c:pt>
              <c:pt idx="4">
                <c:v>май 25</c:v>
              </c:pt>
              <c:pt idx="5">
                <c:v>сен 25</c:v>
              </c:pt>
              <c:pt idx="6">
                <c:v>янв 26</c:v>
              </c:pt>
              <c:pt idx="7">
                <c:v>май 26</c:v>
              </c:pt>
            </c:strLit>
          </c:cat>
          <c:val>
            <c:numLit>
              <c:formatCode>0</c:formatCode>
              <c:ptCount val="8"/>
              <c:pt idx="0">
                <c:v>266</c:v>
              </c:pt>
              <c:pt idx="1">
                <c:v>1981</c:v>
              </c:pt>
              <c:pt idx="2">
                <c:v>3581</c:v>
              </c:pt>
              <c:pt idx="3">
                <c:v>5241</c:v>
              </c:pt>
              <c:pt idx="4">
                <c:v>6635</c:v>
              </c:pt>
              <c:pt idx="5">
                <c:v>7953</c:v>
              </c:pt>
              <c:pt idx="6">
                <c:v>9077</c:v>
              </c:pt>
              <c:pt idx="7">
                <c:v>10279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3333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2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33333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333333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1-title">
            <a:extLst xmlns:a="http://schemas.openxmlformats.org/drawingml/2006/main">
              <a:ext uri="{FF2B5EF4-FFF2-40B4-BE49-F238E27FC236}">
                <a16:creationId xmlns:a16="http://schemas.microsoft.com/office/drawing/2014/main" id="{F09FD2E7-0A85-4586-99F0-EA3742E7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Банк уже прибылен; CAC окупается за 18 мес.</a:t>
            </a:r>
          </a:p>
        </p:txBody>
      </p:sp>
      <p:sp>
        <p:nvSpPr>
          <p:cNvPr id="2" name="slide1-chart-label">
            <a:extLst xmlns:a="http://schemas.openxmlformats.org/drawingml/2006/main">
              <a:ext uri="{FF2B5EF4-FFF2-40B4-BE49-F238E27FC236}">
                <a16:creationId xmlns:a16="http://schemas.microsoft.com/office/drawing/2014/main" id="{627448D7-380A-44FC-BCEA-18123CC1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47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4444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444444"/>
                </a:solidFill>
                <a:latin typeface="Helvetica Neue"/>
                <a:ea typeface="Helvetica Neue"/>
                <a:cs typeface="Helvetica Neue"/>
              </a:rPr>
              <a:t>Маржа после CAC, тыс. ₽ на одно привлечение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381000" y="1504950"/>
          <a:ext xmlns:a="http://schemas.openxmlformats.org/drawingml/2006/main" cx="5572125" cy="4686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c107bf72e1456c"/>
          </a:graphicData>
        </a:graphic>
      </p:graphicFrame>
      <p:sp>
        <p:nvSpPr>
          <p:cNvPr id="4" name="slide1-reading">
            <a:extLst xmlns:a="http://schemas.openxmlformats.org/drawingml/2006/main">
              <a:ext uri="{FF2B5EF4-FFF2-40B4-BE49-F238E27FC236}">
                <a16:creationId xmlns:a16="http://schemas.microsoft.com/office/drawing/2014/main" id="{6B5DD929-4DF3-4E94-91FE-6D1182E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04925"/>
            <a:ext cx="552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Текущая база генерирует прибыль до расходов на новое привлечение. Если сервис начислять во все открытые месяцы, нулевой остаток даёт убыток; 25 тыс. ₽ уже возвращают маржу в плюс.</a:t>
            </a:r>
          </a:p>
        </p:txBody>
      </p:sp>
      <p:sp>
        <p:nvSpPr>
          <p:cNvPr id="5" name="slide1-panel-profit">
            <a:extLst xmlns:a="http://schemas.openxmlformats.org/drawingml/2006/main">
              <a:ext uri="{FF2B5EF4-FFF2-40B4-BE49-F238E27FC236}">
                <a16:creationId xmlns:a16="http://schemas.microsoft.com/office/drawing/2014/main" id="{D72D04A6-5CF2-42CF-ACDE-2C71DAB2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05150"/>
            <a:ext cx="25812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6" name="slide1-profit">
            <a:extLst xmlns:a="http://schemas.openxmlformats.org/drawingml/2006/main">
              <a:ext uri="{FF2B5EF4-FFF2-40B4-BE49-F238E27FC236}">
                <a16:creationId xmlns:a16="http://schemas.microsoft.com/office/drawing/2014/main" id="{045B54D4-8D24-44F7-8E8A-2805486F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81375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45 млн ₽</a:t>
            </a:r>
          </a:p>
        </p:txBody>
      </p:sp>
      <p:sp>
        <p:nvSpPr>
          <p:cNvPr id="7" name="slide1-profit-label">
            <a:extLst xmlns:a="http://schemas.openxmlformats.org/drawingml/2006/main">
              <a:ext uri="{FF2B5EF4-FFF2-40B4-BE49-F238E27FC236}">
                <a16:creationId xmlns:a16="http://schemas.microsoft.com/office/drawing/2014/main" id="{B4B6FFEA-493D-4802-9B0C-EE13A980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62450"/>
            <a:ext cx="2057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ежемесячная прибыль текущей базы</a:t>
            </a:r>
          </a:p>
        </p:txBody>
      </p:sp>
      <p:sp>
        <p:nvSpPr>
          <p:cNvPr id="8" name="slide1-panel-payback">
            <a:extLst xmlns:a="http://schemas.openxmlformats.org/drawingml/2006/main">
              <a:ext uri="{FF2B5EF4-FFF2-40B4-BE49-F238E27FC236}">
                <a16:creationId xmlns:a16="http://schemas.microsoft.com/office/drawing/2014/main" id="{CC4F5D6D-3D4F-4277-A811-1F655EA0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05150"/>
            <a:ext cx="25812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9" name="slide1-payback">
            <a:extLst xmlns:a="http://schemas.openxmlformats.org/drawingml/2006/main">
              <a:ext uri="{FF2B5EF4-FFF2-40B4-BE49-F238E27FC236}">
                <a16:creationId xmlns:a16="http://schemas.microsoft.com/office/drawing/2014/main" id="{12261BAF-904D-4B42-B7F3-F34CC808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81375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18 мес.</a:t>
            </a:r>
          </a:p>
        </p:txBody>
      </p:sp>
      <p:sp>
        <p:nvSpPr>
          <p:cNvPr id="10" name="slide1-payback-label">
            <a:extLst xmlns:a="http://schemas.openxmlformats.org/drawingml/2006/main">
              <a:ext uri="{FF2B5EF4-FFF2-40B4-BE49-F238E27FC236}">
                <a16:creationId xmlns:a16="http://schemas.microsoft.com/office/drawing/2014/main" id="{ACE21190-95D9-4344-A142-4BAC2E22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362450"/>
            <a:ext cx="2057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срок окупаемости CAC в базовом сценарии</a:t>
            </a:r>
          </a:p>
        </p:txBody>
      </p:sp>
      <p:sp>
        <p:nvSpPr>
          <p:cNvPr id="11" name="source-1">
            <a:extLst xmlns:a="http://schemas.openxmlformats.org/drawingml/2006/main">
              <a:ext uri="{FF2B5EF4-FFF2-40B4-BE49-F238E27FC236}">
                <a16:creationId xmlns:a16="http://schemas.microsoft.com/office/drawing/2014/main" id="{4ED3F10E-3018-4FDF-A221-40630AFE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962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Источник: расчёты модели; горизонт наблюдения — 29 месяцев</a:t>
            </a:r>
          </a:p>
        </p:txBody>
      </p:sp>
      <p:sp>
        <p:nvSpPr>
          <p:cNvPr id="12" name="page-1">
            <a:extLst xmlns:a="http://schemas.openxmlformats.org/drawingml/2006/main">
              <a:ext uri="{FF2B5EF4-FFF2-40B4-BE49-F238E27FC236}">
                <a16:creationId xmlns:a16="http://schemas.microsoft.com/office/drawing/2014/main" id="{EA14ADFC-E381-4279-AF76-6ED9FCF5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4442988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F7DFBAA9-EBA7-44D0-A23B-7E60B371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Нужно 2 113 новых клиентов в месяц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381000" y="1200150"/>
          <a:ext xmlns:a="http://schemas.openxmlformats.org/drawingml/2006/main" cx="5524500" cy="5000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fbd0954ed14e0c"/>
          </a:graphicData>
        </a:graphic>
      </p:graphicFrame>
      <p:sp>
        <p:nvSpPr>
          <p:cNvPr id="3" name="slide2-panel-1">
            <a:extLst xmlns:a="http://schemas.openxmlformats.org/drawingml/2006/main">
              <a:ext uri="{FF2B5EF4-FFF2-40B4-BE49-F238E27FC236}">
                <a16:creationId xmlns:a16="http://schemas.microsoft.com/office/drawing/2014/main" id="{71BE8BF3-4117-437F-A07F-9FDA5750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200150"/>
            <a:ext cx="55340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4" name="slide2-stat-1">
            <a:extLst xmlns:a="http://schemas.openxmlformats.org/drawingml/2006/main">
              <a:ext uri="{FF2B5EF4-FFF2-40B4-BE49-F238E27FC236}">
                <a16:creationId xmlns:a16="http://schemas.microsoft.com/office/drawing/2014/main" id="{271BD13D-F2DD-4F56-97BF-40B57478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19225"/>
            <a:ext cx="490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2 113</a:t>
            </a:r>
          </a:p>
        </p:txBody>
      </p:sp>
      <p:sp>
        <p:nvSpPr>
          <p:cNvPr id="5" name="slide2-label-1">
            <a:extLst xmlns:a="http://schemas.openxmlformats.org/drawingml/2006/main">
              <a:ext uri="{FF2B5EF4-FFF2-40B4-BE49-F238E27FC236}">
                <a16:creationId xmlns:a16="http://schemas.microsoft.com/office/drawing/2014/main" id="{B9221B50-1322-48A8-9598-C95CB1FF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905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новых клиентов в месяц — минимальный устойчивый поток</a:t>
            </a:r>
          </a:p>
        </p:txBody>
      </p:sp>
      <p:sp>
        <p:nvSpPr>
          <p:cNvPr id="6" name="slide2-panel-2">
            <a:extLst xmlns:a="http://schemas.openxmlformats.org/drawingml/2006/main">
              <a:ext uri="{FF2B5EF4-FFF2-40B4-BE49-F238E27FC236}">
                <a16:creationId xmlns:a16="http://schemas.microsoft.com/office/drawing/2014/main" id="{2967ABD8-699E-4E8D-88EB-E248FD0C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55340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7" name="slide2-stat-2">
            <a:extLst xmlns:a="http://schemas.openxmlformats.org/drawingml/2006/main">
              <a:ext uri="{FF2B5EF4-FFF2-40B4-BE49-F238E27FC236}">
                <a16:creationId xmlns:a16="http://schemas.microsoft.com/office/drawing/2014/main" id="{49E7949B-6F82-4715-8C20-20792BAE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76575"/>
            <a:ext cx="490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7 367 ₽</a:t>
            </a:r>
          </a:p>
        </p:txBody>
      </p:sp>
      <p:sp>
        <p:nvSpPr>
          <p:cNvPr id="8" name="slide2-label-2">
            <a:extLst xmlns:a="http://schemas.openxmlformats.org/drawingml/2006/main">
              <a:ext uri="{FF2B5EF4-FFF2-40B4-BE49-F238E27FC236}">
                <a16:creationId xmlns:a16="http://schemas.microsoft.com/office/drawing/2014/main" id="{4D77AEC3-7EAA-4230-8638-E30BDE72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09975"/>
            <a:ext cx="4905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LTV до CAC при нулевом среднем остатке</a:t>
            </a:r>
          </a:p>
        </p:txBody>
      </p:sp>
      <p:sp>
        <p:nvSpPr>
          <p:cNvPr id="9" name="slide2-panel-3">
            <a:extLst xmlns:a="http://schemas.openxmlformats.org/drawingml/2006/main">
              <a:ext uri="{FF2B5EF4-FFF2-40B4-BE49-F238E27FC236}">
                <a16:creationId xmlns:a16="http://schemas.microsoft.com/office/drawing/2014/main" id="{CAA7C704-AE6E-42D6-B948-0D90C2EC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14850"/>
            <a:ext cx="55340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10" name="slide2-stat-3">
            <a:extLst xmlns:a="http://schemas.openxmlformats.org/drawingml/2006/main">
              <a:ext uri="{FF2B5EF4-FFF2-40B4-BE49-F238E27FC236}">
                <a16:creationId xmlns:a16="http://schemas.microsoft.com/office/drawing/2014/main" id="{673C395B-47FB-4484-9655-08277FFE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33925"/>
            <a:ext cx="490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122 клиента · 0,61%</a:t>
            </a:r>
          </a:p>
        </p:txBody>
      </p:sp>
      <p:sp>
        <p:nvSpPr>
          <p:cNvPr id="11" name="slide2-label-3">
            <a:extLst xmlns:a="http://schemas.openxmlformats.org/drawingml/2006/main">
              <a:ext uri="{FF2B5EF4-FFF2-40B4-BE49-F238E27FC236}">
                <a16:creationId xmlns:a16="http://schemas.microsoft.com/office/drawing/2014/main" id="{7D5A923D-CF74-437E-890D-28540BE6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67325"/>
            <a:ext cx="4905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открывали счёт повторно; вклад в рост пока ограничен</a:t>
            </a:r>
          </a:p>
        </p:txBody>
      </p:sp>
      <p:sp>
        <p:nvSpPr>
          <p:cNvPr id="12" name="source-2">
            <a:extLst xmlns:a="http://schemas.openxmlformats.org/drawingml/2006/main">
              <a:ext uri="{FF2B5EF4-FFF2-40B4-BE49-F238E27FC236}">
                <a16:creationId xmlns:a16="http://schemas.microsoft.com/office/drawing/2014/main" id="{53E3A59F-FBEC-410F-A0AC-E643AAAE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962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Источник: клиентская активность, январь 2024 — май 2026</a:t>
            </a:r>
          </a:p>
        </p:txBody>
      </p:sp>
      <p:sp>
        <p:nvSpPr>
          <p:cNvPr id="13" name="page-2">
            <a:extLst xmlns:a="http://schemas.openxmlformats.org/drawingml/2006/main">
              <a:ext uri="{FF2B5EF4-FFF2-40B4-BE49-F238E27FC236}">
                <a16:creationId xmlns:a16="http://schemas.microsoft.com/office/drawing/2014/main" id="{8FE0F372-C976-48A4-AA0C-B065922F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912865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2026-08-10T06:29:01.3600000Z</dcterms:created>
  <dcterms:modified xsi:type="dcterms:W3CDTF">2026-08-10T06:29:01.3600000Z</dcterms:modified>
</coreProperties>
</file>